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57" r:id="rId3"/>
    <p:sldId id="258" r:id="rId4"/>
    <p:sldId id="278" r:id="rId5"/>
    <p:sldId id="279" r:id="rId6"/>
    <p:sldId id="263" r:id="rId7"/>
    <p:sldId id="287" r:id="rId8"/>
    <p:sldId id="280" r:id="rId9"/>
    <p:sldId id="285" r:id="rId10"/>
    <p:sldId id="271" r:id="rId11"/>
    <p:sldId id="272" r:id="rId12"/>
    <p:sldId id="273" r:id="rId13"/>
    <p:sldId id="274" r:id="rId14"/>
    <p:sldId id="275" r:id="rId15"/>
    <p:sldId id="276" r:id="rId16"/>
    <p:sldId id="277" r:id="rId17"/>
    <p:sldId id="281" r:id="rId18"/>
    <p:sldId id="282" r:id="rId19"/>
    <p:sldId id="283" r:id="rId20"/>
    <p:sldId id="288" r:id="rId21"/>
    <p:sldId id="284" r:id="rId22"/>
    <p:sldId id="289" r:id="rId23"/>
    <p:sldId id="297" r:id="rId24"/>
    <p:sldId id="298" r:id="rId25"/>
    <p:sldId id="290" r:id="rId26"/>
    <p:sldId id="291" r:id="rId27"/>
    <p:sldId id="292" r:id="rId28"/>
    <p:sldId id="293" r:id="rId29"/>
    <p:sldId id="294" r:id="rId30"/>
    <p:sldId id="295" r:id="rId31"/>
    <p:sldId id="296" r:id="rId32"/>
    <p:sldId id="268" r:id="rId33"/>
  </p:sldIdLst>
  <p:sldSz cx="18288000" cy="10287000"/>
  <p:notesSz cx="6858000" cy="9144000"/>
  <p:embeddedFontLst>
    <p:embeddedFont>
      <p:font typeface="Times New Roman Bold" panose="02020803070505020304" pitchFamily="18" charset="0"/>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2F42F0-339F-4B9B-B202-E5ABF8BEDEC0}" v="3" dt="2026-03-17T10:57:16.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 Raj Parsa" userId="e0a0c66d5d7c064e" providerId="LiveId" clId="{2DFB86F9-5FE5-4B8B-9036-9929287AD869}"/>
    <pc:docChg chg="custSel modSld">
      <pc:chgData name="Harshith Raj Parsa" userId="e0a0c66d5d7c064e" providerId="LiveId" clId="{2DFB86F9-5FE5-4B8B-9036-9929287AD869}" dt="2026-03-17T12:31:06.467" v="74" actId="14100"/>
      <pc:docMkLst>
        <pc:docMk/>
      </pc:docMkLst>
      <pc:sldChg chg="addSp delSp modSp mod">
        <pc:chgData name="Harshith Raj Parsa" userId="e0a0c66d5d7c064e" providerId="LiveId" clId="{2DFB86F9-5FE5-4B8B-9036-9929287AD869}" dt="2026-03-17T11:39:01.185" v="44" actId="1076"/>
        <pc:sldMkLst>
          <pc:docMk/>
          <pc:sldMk cId="3322182688" sldId="281"/>
        </pc:sldMkLst>
        <pc:picChg chg="add mod modCrop">
          <ac:chgData name="Harshith Raj Parsa" userId="e0a0c66d5d7c064e" providerId="LiveId" clId="{2DFB86F9-5FE5-4B8B-9036-9929287AD869}" dt="2026-03-17T11:39:01.185" v="44" actId="1076"/>
          <ac:picMkLst>
            <pc:docMk/>
            <pc:sldMk cId="3322182688" sldId="281"/>
            <ac:picMk id="11" creationId="{D0D2544B-10BF-29AC-9A0E-BD78FF4FD695}"/>
          </ac:picMkLst>
        </pc:picChg>
        <pc:picChg chg="del">
          <ac:chgData name="Harshith Raj Parsa" userId="e0a0c66d5d7c064e" providerId="LiveId" clId="{2DFB86F9-5FE5-4B8B-9036-9929287AD869}" dt="2026-03-17T11:38:18.630" v="38" actId="21"/>
          <ac:picMkLst>
            <pc:docMk/>
            <pc:sldMk cId="3322182688" sldId="281"/>
            <ac:picMk id="14" creationId="{36D46933-FF7F-8804-E709-AAAF79DAC33D}"/>
          </ac:picMkLst>
        </pc:picChg>
      </pc:sldChg>
      <pc:sldChg chg="modSp mod">
        <pc:chgData name="Harshith Raj Parsa" userId="e0a0c66d5d7c064e" providerId="LiveId" clId="{2DFB86F9-5FE5-4B8B-9036-9929287AD869}" dt="2026-03-17T12:30:46.493" v="72" actId="1076"/>
        <pc:sldMkLst>
          <pc:docMk/>
          <pc:sldMk cId="3362064057" sldId="290"/>
        </pc:sldMkLst>
        <pc:spChg chg="mod">
          <ac:chgData name="Harshith Raj Parsa" userId="e0a0c66d5d7c064e" providerId="LiveId" clId="{2DFB86F9-5FE5-4B8B-9036-9929287AD869}" dt="2026-03-17T12:30:46.493" v="72" actId="1076"/>
          <ac:spMkLst>
            <pc:docMk/>
            <pc:sldMk cId="3362064057" sldId="290"/>
            <ac:spMk id="11" creationId="{4B07986F-2D4F-0E31-1029-2A5358A30CA7}"/>
          </ac:spMkLst>
        </pc:spChg>
        <pc:picChg chg="mod">
          <ac:chgData name="Harshith Raj Parsa" userId="e0a0c66d5d7c064e" providerId="LiveId" clId="{2DFB86F9-5FE5-4B8B-9036-9929287AD869}" dt="2026-03-17T12:30:42.761" v="71" actId="1076"/>
          <ac:picMkLst>
            <pc:docMk/>
            <pc:sldMk cId="3362064057" sldId="290"/>
            <ac:picMk id="8" creationId="{F1034234-BAFF-5663-E9AD-5C7F14792335}"/>
          </ac:picMkLst>
        </pc:picChg>
      </pc:sldChg>
      <pc:sldChg chg="addSp delSp modSp mod">
        <pc:chgData name="Harshith Raj Parsa" userId="e0a0c66d5d7c064e" providerId="LiveId" clId="{2DFB86F9-5FE5-4B8B-9036-9929287AD869}" dt="2026-03-17T12:30:08.706" v="69" actId="1076"/>
        <pc:sldMkLst>
          <pc:docMk/>
          <pc:sldMk cId="2691817284" sldId="291"/>
        </pc:sldMkLst>
        <pc:spChg chg="mod">
          <ac:chgData name="Harshith Raj Parsa" userId="e0a0c66d5d7c064e" providerId="LiveId" clId="{2DFB86F9-5FE5-4B8B-9036-9929287AD869}" dt="2026-03-17T12:30:08.706" v="69" actId="1076"/>
          <ac:spMkLst>
            <pc:docMk/>
            <pc:sldMk cId="2691817284" sldId="291"/>
            <ac:spMk id="11" creationId="{636D5D00-35E5-1A3F-47AC-201F73BFA4ED}"/>
          </ac:spMkLst>
        </pc:spChg>
        <pc:picChg chg="add mod modCrop">
          <ac:chgData name="Harshith Raj Parsa" userId="e0a0c66d5d7c064e" providerId="LiveId" clId="{2DFB86F9-5FE5-4B8B-9036-9929287AD869}" dt="2026-03-17T12:30:01.466" v="68" actId="14100"/>
          <ac:picMkLst>
            <pc:docMk/>
            <pc:sldMk cId="2691817284" sldId="291"/>
            <ac:picMk id="6" creationId="{C0B65B2B-370A-187E-8DDB-70D3D1CCAAFB}"/>
          </ac:picMkLst>
        </pc:picChg>
        <pc:picChg chg="del">
          <ac:chgData name="Harshith Raj Parsa" userId="e0a0c66d5d7c064e" providerId="LiveId" clId="{2DFB86F9-5FE5-4B8B-9036-9929287AD869}" dt="2026-03-17T12:26:17.441" v="46" actId="21"/>
          <ac:picMkLst>
            <pc:docMk/>
            <pc:sldMk cId="2691817284" sldId="291"/>
            <ac:picMk id="9" creationId="{9218F237-EC5B-7C4C-9607-5CCDEA94E290}"/>
          </ac:picMkLst>
        </pc:picChg>
      </pc:sldChg>
      <pc:sldChg chg="addSp delSp modSp mod">
        <pc:chgData name="Harshith Raj Parsa" userId="e0a0c66d5d7c064e" providerId="LiveId" clId="{2DFB86F9-5FE5-4B8B-9036-9929287AD869}" dt="2026-03-17T12:31:00.385" v="73" actId="14100"/>
        <pc:sldMkLst>
          <pc:docMk/>
          <pc:sldMk cId="466691920" sldId="292"/>
        </pc:sldMkLst>
        <pc:spChg chg="mod">
          <ac:chgData name="Harshith Raj Parsa" userId="e0a0c66d5d7c064e" providerId="LiveId" clId="{2DFB86F9-5FE5-4B8B-9036-9929287AD869}" dt="2026-03-17T12:28:51.222" v="63" actId="1076"/>
          <ac:spMkLst>
            <pc:docMk/>
            <pc:sldMk cId="466691920" sldId="292"/>
            <ac:spMk id="11" creationId="{370A6251-36F6-A1BF-0F34-28BBE8B925D3}"/>
          </ac:spMkLst>
        </pc:spChg>
        <pc:picChg chg="del">
          <ac:chgData name="Harshith Raj Parsa" userId="e0a0c66d5d7c064e" providerId="LiveId" clId="{2DFB86F9-5FE5-4B8B-9036-9929287AD869}" dt="2026-03-17T12:26:20.935" v="47" actId="21"/>
          <ac:picMkLst>
            <pc:docMk/>
            <pc:sldMk cId="466691920" sldId="292"/>
            <ac:picMk id="5" creationId="{733F3268-00E4-C4EB-C23D-650985DACCC3}"/>
          </ac:picMkLst>
        </pc:picChg>
        <pc:picChg chg="add mod modCrop">
          <ac:chgData name="Harshith Raj Parsa" userId="e0a0c66d5d7c064e" providerId="LiveId" clId="{2DFB86F9-5FE5-4B8B-9036-9929287AD869}" dt="2026-03-17T12:31:00.385" v="73" actId="14100"/>
          <ac:picMkLst>
            <pc:docMk/>
            <pc:sldMk cId="466691920" sldId="292"/>
            <ac:picMk id="7" creationId="{F00EE6A6-15F6-1758-37C7-64A76716AF04}"/>
          </ac:picMkLst>
        </pc:picChg>
      </pc:sldChg>
      <pc:sldChg chg="addSp delSp modSp mod">
        <pc:chgData name="Harshith Raj Parsa" userId="e0a0c66d5d7c064e" providerId="LiveId" clId="{2DFB86F9-5FE5-4B8B-9036-9929287AD869}" dt="2026-03-17T12:31:06.467" v="74" actId="14100"/>
        <pc:sldMkLst>
          <pc:docMk/>
          <pc:sldMk cId="3547131533" sldId="293"/>
        </pc:sldMkLst>
        <pc:spChg chg="mod">
          <ac:chgData name="Harshith Raj Parsa" userId="e0a0c66d5d7c064e" providerId="LiveId" clId="{2DFB86F9-5FE5-4B8B-9036-9929287AD869}" dt="2026-03-17T12:27:41.616" v="57" actId="1076"/>
          <ac:spMkLst>
            <pc:docMk/>
            <pc:sldMk cId="3547131533" sldId="293"/>
            <ac:spMk id="11" creationId="{F0448E06-4523-406C-095B-32A04195E350}"/>
          </ac:spMkLst>
        </pc:spChg>
        <pc:picChg chg="del">
          <ac:chgData name="Harshith Raj Parsa" userId="e0a0c66d5d7c064e" providerId="LiveId" clId="{2DFB86F9-5FE5-4B8B-9036-9929287AD869}" dt="2026-03-17T12:25:31.089" v="45" actId="21"/>
          <ac:picMkLst>
            <pc:docMk/>
            <pc:sldMk cId="3547131533" sldId="293"/>
            <ac:picMk id="6" creationId="{9A9546D1-6737-F79A-E9FA-7A0919650658}"/>
          </ac:picMkLst>
        </pc:picChg>
        <pc:picChg chg="add mod modCrop">
          <ac:chgData name="Harshith Raj Parsa" userId="e0a0c66d5d7c064e" providerId="LiveId" clId="{2DFB86F9-5FE5-4B8B-9036-9929287AD869}" dt="2026-03-17T12:31:06.467" v="74" actId="14100"/>
          <ac:picMkLst>
            <pc:docMk/>
            <pc:sldMk cId="3547131533" sldId="293"/>
            <ac:picMk id="7" creationId="{64AA01AB-4F34-E05F-A141-73B57D484448}"/>
          </ac:picMkLst>
        </pc:picChg>
      </pc:sldChg>
      <pc:sldChg chg="modSp mod">
        <pc:chgData name="Harshith Raj Parsa" userId="e0a0c66d5d7c064e" providerId="LiveId" clId="{2DFB86F9-5FE5-4B8B-9036-9929287AD869}" dt="2026-03-17T10:58:14.114" v="37" actId="1076"/>
        <pc:sldMkLst>
          <pc:docMk/>
          <pc:sldMk cId="3992217026" sldId="295"/>
        </pc:sldMkLst>
        <pc:spChg chg="mod">
          <ac:chgData name="Harshith Raj Parsa" userId="e0a0c66d5d7c064e" providerId="LiveId" clId="{2DFB86F9-5FE5-4B8B-9036-9929287AD869}" dt="2026-03-17T10:58:14.114" v="37" actId="1076"/>
          <ac:spMkLst>
            <pc:docMk/>
            <pc:sldMk cId="3992217026" sldId="295"/>
            <ac:spMk id="13" creationId="{AB4AAEBC-767A-C3AB-078F-5282ACDB9699}"/>
          </ac:spMkLst>
        </pc:spChg>
        <pc:grpChg chg="mod">
          <ac:chgData name="Harshith Raj Parsa" userId="e0a0c66d5d7c064e" providerId="LiveId" clId="{2DFB86F9-5FE5-4B8B-9036-9929287AD869}" dt="2026-03-17T10:58:10.228" v="36" actId="14100"/>
          <ac:grpSpMkLst>
            <pc:docMk/>
            <pc:sldMk cId="3992217026" sldId="295"/>
            <ac:grpSpMk id="2" creationId="{CC289560-F57E-840C-E128-B67F1884AB35}"/>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4A382-E513-4CD7-9CB2-8FF68BDE872B}" type="datetimeFigureOut">
              <a:rPr lang="en-IN" smtClean="0"/>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691639-E17C-49E6-A6E7-D0ED82072CC6}" type="slidenum">
              <a:rPr lang="en-IN" smtClean="0"/>
              <a:t>‹#›</a:t>
            </a:fld>
            <a:endParaRPr lang="en-IN"/>
          </a:p>
        </p:txBody>
      </p:sp>
    </p:spTree>
    <p:extLst>
      <p:ext uri="{BB962C8B-B14F-4D97-AF65-F5344CB8AC3E}">
        <p14:creationId xmlns:p14="http://schemas.microsoft.com/office/powerpoint/2010/main" val="2968912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691639-E17C-49E6-A6E7-D0ED82072CC6}" type="slidenum">
              <a:rPr lang="en-IN" smtClean="0"/>
              <a:t>1</a:t>
            </a:fld>
            <a:endParaRPr lang="en-IN"/>
          </a:p>
        </p:txBody>
      </p:sp>
    </p:spTree>
    <p:extLst>
      <p:ext uri="{BB962C8B-B14F-4D97-AF65-F5344CB8AC3E}">
        <p14:creationId xmlns:p14="http://schemas.microsoft.com/office/powerpoint/2010/main" val="2865338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691639-E17C-49E6-A6E7-D0ED82072CC6}" type="slidenum">
              <a:rPr lang="en-IN" smtClean="0"/>
              <a:t>18</a:t>
            </a:fld>
            <a:endParaRPr lang="en-IN"/>
          </a:p>
        </p:txBody>
      </p:sp>
    </p:spTree>
    <p:extLst>
      <p:ext uri="{BB962C8B-B14F-4D97-AF65-F5344CB8AC3E}">
        <p14:creationId xmlns:p14="http://schemas.microsoft.com/office/powerpoint/2010/main" val="3379424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691639-E17C-49E6-A6E7-D0ED82072CC6}" type="slidenum">
              <a:rPr lang="en-IN" smtClean="0"/>
              <a:t>22</a:t>
            </a:fld>
            <a:endParaRPr lang="en-IN"/>
          </a:p>
        </p:txBody>
      </p:sp>
    </p:spTree>
    <p:extLst>
      <p:ext uri="{BB962C8B-B14F-4D97-AF65-F5344CB8AC3E}">
        <p14:creationId xmlns:p14="http://schemas.microsoft.com/office/powerpoint/2010/main" val="2487558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FCA95-2830-980D-9AAA-1D6679916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13F5E-547C-A79A-A209-E01FF5F36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A1234-6627-7070-2560-A6C85132DC7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20C97F-FBA4-A70C-341D-2D7C01FDA461}"/>
              </a:ext>
            </a:extLst>
          </p:cNvPr>
          <p:cNvSpPr>
            <a:spLocks noGrp="1"/>
          </p:cNvSpPr>
          <p:nvPr>
            <p:ph type="sldNum" sz="quarter" idx="5"/>
          </p:nvPr>
        </p:nvSpPr>
        <p:spPr/>
        <p:txBody>
          <a:bodyPr/>
          <a:lstStyle/>
          <a:p>
            <a:fld id="{5E691639-E17C-49E6-A6E7-D0ED82072CC6}" type="slidenum">
              <a:rPr lang="en-IN" smtClean="0"/>
              <a:t>23</a:t>
            </a:fld>
            <a:endParaRPr lang="en-IN"/>
          </a:p>
        </p:txBody>
      </p:sp>
    </p:spTree>
    <p:extLst>
      <p:ext uri="{BB962C8B-B14F-4D97-AF65-F5344CB8AC3E}">
        <p14:creationId xmlns:p14="http://schemas.microsoft.com/office/powerpoint/2010/main" val="3191660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BD913-1E80-E522-AF1B-4CD60B051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A7389-B9CC-8551-0E5E-59D2B579E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5BB39-7D24-6F61-773D-DD5D0898C6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478FAF-DC77-C001-2EBA-A61A21AFD012}"/>
              </a:ext>
            </a:extLst>
          </p:cNvPr>
          <p:cNvSpPr>
            <a:spLocks noGrp="1"/>
          </p:cNvSpPr>
          <p:nvPr>
            <p:ph type="sldNum" sz="quarter" idx="5"/>
          </p:nvPr>
        </p:nvSpPr>
        <p:spPr/>
        <p:txBody>
          <a:bodyPr/>
          <a:lstStyle/>
          <a:p>
            <a:fld id="{5E691639-E17C-49E6-A6E7-D0ED82072CC6}" type="slidenum">
              <a:rPr lang="en-IN" smtClean="0"/>
              <a:t>24</a:t>
            </a:fld>
            <a:endParaRPr lang="en-IN"/>
          </a:p>
        </p:txBody>
      </p:sp>
    </p:spTree>
    <p:extLst>
      <p:ext uri="{BB962C8B-B14F-4D97-AF65-F5344CB8AC3E}">
        <p14:creationId xmlns:p14="http://schemas.microsoft.com/office/powerpoint/2010/main" val="2942123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691639-E17C-49E6-A6E7-D0ED82072CC6}" type="slidenum">
              <a:rPr lang="en-IN" smtClean="0"/>
              <a:t>25</a:t>
            </a:fld>
            <a:endParaRPr lang="en-IN"/>
          </a:p>
        </p:txBody>
      </p:sp>
    </p:spTree>
    <p:extLst>
      <p:ext uri="{BB962C8B-B14F-4D97-AF65-F5344CB8AC3E}">
        <p14:creationId xmlns:p14="http://schemas.microsoft.com/office/powerpoint/2010/main" val="232724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F1A15-1FB7-D34A-C5C8-AEBB08D6B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5F36A-0303-0B4A-AE91-343E7B858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A009D-6F84-7EE1-D5D4-DC9ACBEF58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90F607-C7E0-6FA9-BCA0-CF1487BC95F9}"/>
              </a:ext>
            </a:extLst>
          </p:cNvPr>
          <p:cNvSpPr>
            <a:spLocks noGrp="1"/>
          </p:cNvSpPr>
          <p:nvPr>
            <p:ph type="sldNum" sz="quarter" idx="5"/>
          </p:nvPr>
        </p:nvSpPr>
        <p:spPr/>
        <p:txBody>
          <a:bodyPr/>
          <a:lstStyle/>
          <a:p>
            <a:fld id="{5E691639-E17C-49E6-A6E7-D0ED82072CC6}" type="slidenum">
              <a:rPr lang="en-IN" smtClean="0"/>
              <a:t>26</a:t>
            </a:fld>
            <a:endParaRPr lang="en-IN"/>
          </a:p>
        </p:txBody>
      </p:sp>
    </p:spTree>
    <p:extLst>
      <p:ext uri="{BB962C8B-B14F-4D97-AF65-F5344CB8AC3E}">
        <p14:creationId xmlns:p14="http://schemas.microsoft.com/office/powerpoint/2010/main" val="763354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59AF8-4462-613F-FF34-AAB6E59EC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D3671-4EBE-D4CB-A6F4-63DC530B4F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1A0E7-2FCD-E567-15B8-0534EB8BE9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FE36A7-51AC-53AC-9B70-D0CB07BB7BEF}"/>
              </a:ext>
            </a:extLst>
          </p:cNvPr>
          <p:cNvSpPr>
            <a:spLocks noGrp="1"/>
          </p:cNvSpPr>
          <p:nvPr>
            <p:ph type="sldNum" sz="quarter" idx="5"/>
          </p:nvPr>
        </p:nvSpPr>
        <p:spPr/>
        <p:txBody>
          <a:bodyPr/>
          <a:lstStyle/>
          <a:p>
            <a:fld id="{5E691639-E17C-49E6-A6E7-D0ED82072CC6}" type="slidenum">
              <a:rPr lang="en-IN" smtClean="0"/>
              <a:t>27</a:t>
            </a:fld>
            <a:endParaRPr lang="en-IN"/>
          </a:p>
        </p:txBody>
      </p:sp>
    </p:spTree>
    <p:extLst>
      <p:ext uri="{BB962C8B-B14F-4D97-AF65-F5344CB8AC3E}">
        <p14:creationId xmlns:p14="http://schemas.microsoft.com/office/powerpoint/2010/main" val="2029358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BCDF6-0874-FE61-1246-C63956B38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B3336-6CE8-85BB-5DC2-AEA754026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042E2-B7E5-A040-7955-66120471328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5C4C45-B54C-9F24-F492-8C0276FF7EE7}"/>
              </a:ext>
            </a:extLst>
          </p:cNvPr>
          <p:cNvSpPr>
            <a:spLocks noGrp="1"/>
          </p:cNvSpPr>
          <p:nvPr>
            <p:ph type="sldNum" sz="quarter" idx="5"/>
          </p:nvPr>
        </p:nvSpPr>
        <p:spPr/>
        <p:txBody>
          <a:bodyPr/>
          <a:lstStyle/>
          <a:p>
            <a:fld id="{5E691639-E17C-49E6-A6E7-D0ED82072CC6}" type="slidenum">
              <a:rPr lang="en-IN" smtClean="0"/>
              <a:t>28</a:t>
            </a:fld>
            <a:endParaRPr lang="en-IN"/>
          </a:p>
        </p:txBody>
      </p:sp>
    </p:spTree>
    <p:extLst>
      <p:ext uri="{BB962C8B-B14F-4D97-AF65-F5344CB8AC3E}">
        <p14:creationId xmlns:p14="http://schemas.microsoft.com/office/powerpoint/2010/main" val="889966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691639-E17C-49E6-A6E7-D0ED82072CC6}" type="slidenum">
              <a:rPr lang="en-IN" smtClean="0"/>
              <a:t>32</a:t>
            </a:fld>
            <a:endParaRPr lang="en-IN"/>
          </a:p>
        </p:txBody>
      </p:sp>
    </p:spTree>
    <p:extLst>
      <p:ext uri="{BB962C8B-B14F-4D97-AF65-F5344CB8AC3E}">
        <p14:creationId xmlns:p14="http://schemas.microsoft.com/office/powerpoint/2010/main" val="3385677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9"/>
          <p:cNvSpPr/>
          <p:nvPr/>
        </p:nvSpPr>
        <p:spPr>
          <a:xfrm flipV="1">
            <a:off x="-10371" y="3162734"/>
            <a:ext cx="18135016" cy="82418"/>
          </a:xfrm>
          <a:prstGeom prst="line">
            <a:avLst/>
          </a:prstGeom>
          <a:ln w="38100" cap="flat">
            <a:solidFill>
              <a:srgbClr val="000000"/>
            </a:solidFill>
            <a:prstDash val="solid"/>
            <a:headEnd type="none" w="sm" len="sm"/>
            <a:tailEnd type="none" w="sm" len="sm"/>
          </a:ln>
        </p:spPr>
        <p:txBody>
          <a:bodyPr/>
          <a:lstStyle/>
          <a:p>
            <a:endParaRPr lang="en-IN" dirty="0"/>
          </a:p>
          <a:p>
            <a:endParaRPr lang="en-IN" dirty="0"/>
          </a:p>
          <a:p>
            <a:endParaRPr lang="en-IN" dirty="0"/>
          </a:p>
        </p:txBody>
      </p:sp>
      <p:sp>
        <p:nvSpPr>
          <p:cNvPr id="13" name="TextBox 13"/>
          <p:cNvSpPr txBox="1"/>
          <p:nvPr/>
        </p:nvSpPr>
        <p:spPr>
          <a:xfrm>
            <a:off x="3863387" y="853416"/>
            <a:ext cx="13924330" cy="1909690"/>
          </a:xfrm>
          <a:prstGeom prst="rect">
            <a:avLst/>
          </a:prstGeom>
        </p:spPr>
        <p:txBody>
          <a:bodyPr lIns="0" tIns="0" rIns="0" bIns="0" rtlCol="0" anchor="t">
            <a:spAutoFit/>
          </a:bodyPr>
          <a:lstStyle/>
          <a:p>
            <a:pPr algn="ctr">
              <a:lnSpc>
                <a:spcPct val="150000"/>
              </a:lnSpc>
            </a:pPr>
            <a:r>
              <a:rPr lang="en-US" sz="4400" b="1" dirty="0">
                <a:solidFill>
                  <a:schemeClr val="tx2">
                    <a:lumMod val="50000"/>
                  </a:schemeClr>
                </a:solidFill>
                <a:latin typeface="Times New Roman" panose="02020603050405020304" pitchFamily="18" charset="0"/>
                <a:cs typeface="Times New Roman" panose="02020603050405020304" pitchFamily="18" charset="0"/>
              </a:rPr>
              <a:t>CMR TECHNICAL CAMPUS</a:t>
            </a:r>
          </a:p>
          <a:p>
            <a:pPr marL="0" lvl="0" indent="0" algn="ctr">
              <a:lnSpc>
                <a:spcPct val="150000"/>
              </a:lnSpc>
              <a:spcBef>
                <a:spcPct val="0"/>
              </a:spcBef>
            </a:pPr>
            <a:r>
              <a:rPr lang="en-US" sz="4400" b="1" dirty="0">
                <a:solidFill>
                  <a:schemeClr val="tx2"/>
                </a:solidFill>
                <a:latin typeface="Times New Roman" panose="02020603050405020304" pitchFamily="18" charset="0"/>
                <a:cs typeface="Times New Roman" panose="02020603050405020304" pitchFamily="18" charset="0"/>
              </a:rPr>
              <a:t>DEPARTMENT OF INFORMATION TECHNOLOGY</a:t>
            </a:r>
          </a:p>
        </p:txBody>
      </p:sp>
      <p:sp>
        <p:nvSpPr>
          <p:cNvPr id="14" name="TextBox 14"/>
          <p:cNvSpPr txBox="1"/>
          <p:nvPr/>
        </p:nvSpPr>
        <p:spPr>
          <a:xfrm>
            <a:off x="1871192" y="3162734"/>
            <a:ext cx="15409711" cy="2584810"/>
          </a:xfrm>
          <a:prstGeom prst="rect">
            <a:avLst/>
          </a:prstGeom>
        </p:spPr>
        <p:txBody>
          <a:bodyPr wrap="square" lIns="0" tIns="0" rIns="0" bIns="0" rtlCol="0" anchor="t">
            <a:spAutoFit/>
          </a:bodyPr>
          <a:lstStyle/>
          <a:p>
            <a:pPr algn="ctr"/>
            <a:endParaRPr lang="en-US" sz="2799" dirty="0">
              <a:solidFill>
                <a:srgbClr val="000000"/>
              </a:solidFill>
              <a:latin typeface="Times New Roman" panose="02020603050405020304" pitchFamily="18" charset="0"/>
              <a:cs typeface="Times New Roman" panose="02020603050405020304" pitchFamily="18" charset="0"/>
            </a:endParaRPr>
          </a:p>
          <a:p>
            <a:pPr algn="ctr"/>
            <a:r>
              <a:rPr lang="en-US" sz="2799" b="1" dirty="0">
                <a:solidFill>
                  <a:srgbClr val="C00000"/>
                </a:solidFill>
                <a:latin typeface="Times New Roman" panose="02020603050405020304" pitchFamily="18" charset="0"/>
                <a:cs typeface="Times New Roman" panose="02020603050405020304" pitchFamily="18" charset="0"/>
              </a:rPr>
              <a:t>MAJOR PROJECT STAGE-II</a:t>
            </a:r>
          </a:p>
          <a:p>
            <a:pPr algn="ctr"/>
            <a:r>
              <a:rPr lang="en-US" sz="2799" b="1" dirty="0">
                <a:solidFill>
                  <a:srgbClr val="C00000"/>
                </a:solidFill>
                <a:latin typeface="Times New Roman" panose="02020603050405020304" pitchFamily="18" charset="0"/>
                <a:cs typeface="Times New Roman" panose="02020603050405020304" pitchFamily="18" charset="0"/>
              </a:rPr>
              <a:t>REVIEW-II</a:t>
            </a:r>
          </a:p>
          <a:p>
            <a:pPr algn="ctr"/>
            <a:r>
              <a:rPr lang="en-US" sz="2799" dirty="0">
                <a:solidFill>
                  <a:srgbClr val="000000"/>
                </a:solidFill>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PROJECT TITLE: </a:t>
            </a:r>
            <a:r>
              <a:rPr lang="en-US" sz="2800" dirty="0">
                <a:latin typeface="Times New Roman" panose="02020603050405020304" pitchFamily="18" charset="0"/>
                <a:cs typeface="Times New Roman" panose="02020603050405020304" pitchFamily="18" charset="0"/>
              </a:rPr>
              <a:t>AGROLANDTRUST-5.0:A BLOCKCHAIN-AI FRAMEWORK FOR TAMPER-PROOF LAND REGISTRATION AND FRAUD DETECTION IN SMART AGRICULTURE</a:t>
            </a:r>
            <a:endParaRPr lang="en-IN" sz="2800" dirty="0">
              <a:latin typeface="Times New Roman" panose="02020603050405020304" pitchFamily="18" charset="0"/>
              <a:cs typeface="Times New Roman" panose="02020603050405020304" pitchFamily="18" charset="0"/>
            </a:endParaRPr>
          </a:p>
        </p:txBody>
      </p:sp>
      <p:sp>
        <p:nvSpPr>
          <p:cNvPr id="15" name="TextBox 15"/>
          <p:cNvSpPr txBox="1"/>
          <p:nvPr/>
        </p:nvSpPr>
        <p:spPr>
          <a:xfrm>
            <a:off x="1584834" y="6558102"/>
            <a:ext cx="11028237" cy="1500411"/>
          </a:xfrm>
          <a:prstGeom prst="rect">
            <a:avLst/>
          </a:prstGeom>
        </p:spPr>
        <p:txBody>
          <a:bodyPr lIns="0" tIns="0" rIns="0" bIns="0" rtlCol="0" anchor="t">
            <a:spAutoFit/>
          </a:bodyPr>
          <a:lstStyle/>
          <a:p>
            <a:pPr>
              <a:lnSpc>
                <a:spcPts val="3919"/>
              </a:lnSpc>
            </a:pPr>
            <a:r>
              <a:rPr lang="en-US" sz="2799" b="1" dirty="0">
                <a:solidFill>
                  <a:srgbClr val="002060"/>
                </a:solidFill>
                <a:latin typeface="Times New Roman" panose="02020603050405020304" pitchFamily="18" charset="0"/>
                <a:cs typeface="Times New Roman" panose="02020603050405020304" pitchFamily="18" charset="0"/>
              </a:rPr>
              <a:t>Project Supervisor:</a:t>
            </a:r>
          </a:p>
          <a:p>
            <a:pPr>
              <a:lnSpc>
                <a:spcPts val="3919"/>
              </a:lnSpc>
            </a:pPr>
            <a:r>
              <a:rPr lang="en-US" sz="2799" b="1" dirty="0">
                <a:solidFill>
                  <a:srgbClr val="000000"/>
                </a:solidFill>
                <a:latin typeface="Times New Roman" panose="02020603050405020304" pitchFamily="18" charset="0"/>
                <a:cs typeface="Times New Roman" panose="02020603050405020304" pitchFamily="18" charset="0"/>
              </a:rPr>
              <a:t>Name: </a:t>
            </a:r>
            <a:r>
              <a:rPr lang="en-US" sz="2799" dirty="0">
                <a:solidFill>
                  <a:srgbClr val="000000"/>
                </a:solidFill>
                <a:latin typeface="Times New Roman" panose="02020603050405020304" pitchFamily="18" charset="0"/>
                <a:cs typeface="Times New Roman" panose="02020603050405020304" pitchFamily="18" charset="0"/>
              </a:rPr>
              <a:t>Md. Sajid Pasha</a:t>
            </a:r>
          </a:p>
          <a:p>
            <a:pPr marL="0" lvl="0" indent="0">
              <a:lnSpc>
                <a:spcPts val="3919"/>
              </a:lnSpc>
              <a:spcBef>
                <a:spcPct val="0"/>
              </a:spcBef>
            </a:pPr>
            <a:r>
              <a:rPr lang="en-US" sz="2799" b="1" dirty="0">
                <a:solidFill>
                  <a:srgbClr val="000000"/>
                </a:solidFill>
                <a:latin typeface="Times New Roman" panose="02020603050405020304" pitchFamily="18" charset="0"/>
                <a:cs typeface="Times New Roman" panose="02020603050405020304" pitchFamily="18" charset="0"/>
              </a:rPr>
              <a:t>Designation: </a:t>
            </a:r>
            <a:r>
              <a:rPr lang="en-US" sz="2799" dirty="0">
                <a:solidFill>
                  <a:srgbClr val="000000"/>
                </a:solidFill>
                <a:latin typeface="Times New Roman" panose="02020603050405020304" pitchFamily="18" charset="0"/>
                <a:cs typeface="Times New Roman" panose="02020603050405020304" pitchFamily="18" charset="0"/>
              </a:rPr>
              <a:t>Assistant Professor</a:t>
            </a:r>
          </a:p>
        </p:txBody>
      </p:sp>
      <p:sp>
        <p:nvSpPr>
          <p:cNvPr id="16" name="TextBox 16"/>
          <p:cNvSpPr txBox="1"/>
          <p:nvPr/>
        </p:nvSpPr>
        <p:spPr>
          <a:xfrm>
            <a:off x="8218909" y="6557405"/>
            <a:ext cx="8784976" cy="2655342"/>
          </a:xfrm>
          <a:prstGeom prst="rect">
            <a:avLst/>
          </a:prstGeom>
        </p:spPr>
        <p:txBody>
          <a:bodyPr wrap="square" lIns="0" tIns="0" rIns="0" bIns="0" rtlCol="0" anchor="t">
            <a:spAutoFit/>
          </a:bodyPr>
          <a:lstStyle/>
          <a:p>
            <a:pPr>
              <a:lnSpc>
                <a:spcPts val="3469"/>
              </a:lnSpc>
            </a:pPr>
            <a:r>
              <a:rPr lang="en-US" sz="2478" b="1" dirty="0">
                <a:solidFill>
                  <a:srgbClr val="002060"/>
                </a:solidFill>
                <a:latin typeface="Times New Roman" panose="02020603050405020304" pitchFamily="18" charset="0"/>
                <a:cs typeface="Times New Roman" panose="02020603050405020304" pitchFamily="18" charset="0"/>
              </a:rPr>
              <a:t>Presented by:</a:t>
            </a:r>
          </a:p>
          <a:p>
            <a:pPr>
              <a:lnSpc>
                <a:spcPts val="3469"/>
              </a:lnSpc>
            </a:pPr>
            <a:r>
              <a:rPr lang="en-US" sz="2478" b="1" dirty="0">
                <a:solidFill>
                  <a:srgbClr val="000000"/>
                </a:solidFill>
                <a:latin typeface="Times New Roman" panose="02020603050405020304" pitchFamily="18" charset="0"/>
                <a:cs typeface="Times New Roman" panose="02020603050405020304" pitchFamily="18" charset="0"/>
              </a:rPr>
              <a:t>Batch No: 02</a:t>
            </a:r>
          </a:p>
          <a:p>
            <a:pPr>
              <a:lnSpc>
                <a:spcPts val="3469"/>
              </a:lnSpc>
            </a:pPr>
            <a:r>
              <a:rPr lang="en-US" sz="2478" dirty="0">
                <a:solidFill>
                  <a:srgbClr val="000000"/>
                </a:solidFill>
                <a:latin typeface="Times New Roman" panose="02020603050405020304" pitchFamily="18" charset="0"/>
                <a:cs typeface="Times New Roman" panose="02020603050405020304" pitchFamily="18" charset="0"/>
              </a:rPr>
              <a:t>1. H. No: 227R1A12B9                           Name: P. Vaishnavi</a:t>
            </a:r>
          </a:p>
          <a:p>
            <a:pPr>
              <a:lnSpc>
                <a:spcPts val="3469"/>
              </a:lnSpc>
            </a:pPr>
            <a:r>
              <a:rPr lang="en-US" sz="2478" dirty="0">
                <a:solidFill>
                  <a:srgbClr val="000000"/>
                </a:solidFill>
                <a:latin typeface="Times New Roman" panose="02020603050405020304" pitchFamily="18" charset="0"/>
                <a:cs typeface="Times New Roman" panose="02020603050405020304" pitchFamily="18" charset="0"/>
              </a:rPr>
              <a:t>2. H. No: 227R1A12B2                           Name: M. Anusha</a:t>
            </a:r>
          </a:p>
          <a:p>
            <a:pPr>
              <a:lnSpc>
                <a:spcPts val="3469"/>
              </a:lnSpc>
            </a:pPr>
            <a:r>
              <a:rPr lang="en-US" sz="2478" dirty="0">
                <a:solidFill>
                  <a:srgbClr val="000000"/>
                </a:solidFill>
                <a:latin typeface="Times New Roman" panose="02020603050405020304" pitchFamily="18" charset="0"/>
                <a:cs typeface="Times New Roman" panose="02020603050405020304" pitchFamily="18" charset="0"/>
              </a:rPr>
              <a:t>3. H. No: 237R5A1213                            Name: R. Rakshith</a:t>
            </a:r>
          </a:p>
          <a:p>
            <a:pPr marL="0" lvl="0" indent="0">
              <a:lnSpc>
                <a:spcPts val="3469"/>
              </a:lnSpc>
              <a:spcBef>
                <a:spcPct val="0"/>
              </a:spcBef>
            </a:pPr>
            <a:r>
              <a:rPr lang="en-US" sz="2478" dirty="0">
                <a:solidFill>
                  <a:srgbClr val="000000"/>
                </a:solidFill>
                <a:latin typeface="Times New Roman" panose="02020603050405020304" pitchFamily="18" charset="0"/>
                <a:cs typeface="Times New Roman" panose="02020603050405020304" pitchFamily="18" charset="0"/>
              </a:rPr>
              <a:t>4. H. No: 227R1A1299                            Name: K. Rajesh</a:t>
            </a:r>
          </a:p>
        </p:txBody>
      </p:sp>
      <p:pic>
        <p:nvPicPr>
          <p:cNvPr id="8" name="Picture 7">
            <a:extLst>
              <a:ext uri="{FF2B5EF4-FFF2-40B4-BE49-F238E27FC236}">
                <a16:creationId xmlns:a16="http://schemas.microsoft.com/office/drawing/2014/main" id="{0DB6CE82-46E7-4DF5-1913-7DDD2F884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68" y="437244"/>
            <a:ext cx="3067050" cy="23258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1813" y="1964481"/>
            <a:ext cx="16230600" cy="7820739"/>
            <a:chOff x="0" y="-38100"/>
            <a:chExt cx="4274726" cy="1849365"/>
          </a:xfrm>
        </p:grpSpPr>
        <p:sp>
          <p:nvSpPr>
            <p:cNvPr id="3" name="Freeform 3"/>
            <p:cNvSpPr/>
            <p:nvPr/>
          </p:nvSpPr>
          <p:spPr>
            <a:xfrm>
              <a:off x="0" y="0"/>
              <a:ext cx="4274726" cy="1811265"/>
            </a:xfrm>
            <a:custGeom>
              <a:avLst/>
              <a:gdLst/>
              <a:ahLst/>
              <a:cxnLst/>
              <a:rect l="l" t="t" r="r" b="b"/>
              <a:pathLst>
                <a:path w="4274726" h="1811265">
                  <a:moveTo>
                    <a:pt x="0" y="0"/>
                  </a:moveTo>
                  <a:lnTo>
                    <a:pt x="4274726" y="0"/>
                  </a:lnTo>
                  <a:lnTo>
                    <a:pt x="4274726" y="1811265"/>
                  </a:lnTo>
                  <a:lnTo>
                    <a:pt x="0" y="1811265"/>
                  </a:lnTo>
                  <a:close/>
                </a:path>
              </a:pathLst>
            </a:custGeom>
            <a:solidFill>
              <a:srgbClr val="F1F2F2"/>
            </a:solidFill>
          </p:spPr>
          <p:txBody>
            <a:bodyPr/>
            <a:lstStyle/>
            <a:p>
              <a:endParaRPr lang="en-IN" dirty="0"/>
            </a:p>
          </p:txBody>
        </p:sp>
        <p:sp>
          <p:nvSpPr>
            <p:cNvPr id="4" name="TextBox 4"/>
            <p:cNvSpPr txBox="1"/>
            <p:nvPr/>
          </p:nvSpPr>
          <p:spPr>
            <a:xfrm>
              <a:off x="0" y="-38100"/>
              <a:ext cx="4274726" cy="184936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983760" y="967036"/>
            <a:ext cx="4248472" cy="1272261"/>
            <a:chOff x="0" y="0"/>
            <a:chExt cx="2109623" cy="455698"/>
          </a:xfrm>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516834" y="949780"/>
            <a:ext cx="9200557" cy="1014701"/>
          </a:xfrm>
          <a:prstGeom prst="rect">
            <a:avLst/>
          </a:prstGeom>
        </p:spPr>
        <p:txBody>
          <a:bodyPr lIns="0" tIns="0" rIns="0" bIns="0" rtlCol="0" anchor="t">
            <a:spAutoFit/>
          </a:bodyPr>
          <a:lstStyle/>
          <a:p>
            <a:pPr algn="ctr">
              <a:lnSpc>
                <a:spcPts val="9250"/>
              </a:lnSpc>
            </a:pPr>
            <a:r>
              <a:rPr lang="en-US" sz="4000" b="1" dirty="0">
                <a:solidFill>
                  <a:srgbClr val="000000"/>
                </a:solidFill>
                <a:latin typeface="Times New Roman" panose="02020603050405020304" pitchFamily="18" charset="0"/>
                <a:cs typeface="Times New Roman" panose="02020603050405020304" pitchFamily="18" charset="0"/>
              </a:rPr>
              <a:t>CONTENTS</a:t>
            </a:r>
          </a:p>
        </p:txBody>
      </p:sp>
      <p:sp>
        <p:nvSpPr>
          <p:cNvPr id="13" name="TextBox 13"/>
          <p:cNvSpPr txBox="1"/>
          <p:nvPr/>
        </p:nvSpPr>
        <p:spPr>
          <a:xfrm>
            <a:off x="1511152" y="2256553"/>
            <a:ext cx="13969552" cy="8012771"/>
          </a:xfrm>
          <a:prstGeom prst="rect">
            <a:avLst/>
          </a:prstGeom>
        </p:spPr>
        <p:txBody>
          <a:bodyPr wrap="square" lIns="0" tIns="0" rIns="0" bIns="0" rtlCol="0" anchor="t">
            <a:spAutoFit/>
          </a:bodyPr>
          <a:lstStyle/>
          <a:p>
            <a:pPr marL="635240" lvl="1" indent="-342900">
              <a:lnSpc>
                <a:spcPct val="20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Introduction and Overview of the Project</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Existing System</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Disadvantages</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Proposed System</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Advantages</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Software  and Hardware Requirements</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Novelty of the Project</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System Architecture</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Modules</a:t>
            </a:r>
          </a:p>
          <a:p>
            <a:pPr marL="584681" lvl="1" indent="-292341">
              <a:lnSpc>
                <a:spcPct val="200000"/>
              </a:lnSpc>
              <a:buFont typeface="Arial"/>
              <a:buChar char="•"/>
            </a:pPr>
            <a:r>
              <a:rPr lang="en-US" sz="2400" dirty="0">
                <a:solidFill>
                  <a:srgbClr val="000000"/>
                </a:solidFill>
                <a:latin typeface="Times New Roman" panose="02020603050405020304" pitchFamily="18" charset="0"/>
                <a:cs typeface="Times New Roman" panose="02020603050405020304" pitchFamily="18" charset="0"/>
              </a:rPr>
              <a:t>UML Diagrams</a:t>
            </a:r>
          </a:p>
          <a:p>
            <a:pPr marL="292340" lvl="1">
              <a:lnSpc>
                <a:spcPct val="200000"/>
              </a:lnSpc>
            </a:pPr>
            <a:endParaRPr lang="en-US" sz="2400" dirty="0">
              <a:solidFill>
                <a:srgbClr val="00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D34966D-CC7A-6E1B-7C3F-61EC0419FDE5}"/>
              </a:ext>
            </a:extLst>
          </p:cNvPr>
          <p:cNvPicPr>
            <a:picLocks noChangeAspect="1"/>
          </p:cNvPicPr>
          <p:nvPr/>
        </p:nvPicPr>
        <p:blipFill>
          <a:blip r:embed="rId2"/>
          <a:stretch>
            <a:fillRect/>
          </a:stretch>
        </p:blipFill>
        <p:spPr>
          <a:xfrm>
            <a:off x="15158023" y="178380"/>
            <a:ext cx="2074390" cy="1730229"/>
          </a:xfrm>
          <a:prstGeom prst="rect">
            <a:avLst/>
          </a:prstGeom>
        </p:spPr>
      </p:pic>
      <p:sp>
        <p:nvSpPr>
          <p:cNvPr id="9" name="TextBox 8">
            <a:extLst>
              <a:ext uri="{FF2B5EF4-FFF2-40B4-BE49-F238E27FC236}">
                <a16:creationId xmlns:a16="http://schemas.microsoft.com/office/drawing/2014/main" id="{B60DB3D4-FFA0-D822-E0DF-B83998F56CE6}"/>
              </a:ext>
            </a:extLst>
          </p:cNvPr>
          <p:cNvSpPr txBox="1"/>
          <p:nvPr/>
        </p:nvSpPr>
        <p:spPr>
          <a:xfrm>
            <a:off x="8999983" y="2239297"/>
            <a:ext cx="6158039" cy="367312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Source Code </a:t>
            </a:r>
          </a:p>
          <a:p>
            <a:pPr marL="285750" indent="-285750">
              <a:lnSpc>
                <a:spcPct val="200000"/>
              </a:lnSpc>
              <a:buFont typeface="Arial" panose="020B0604020202020204" pitchFamily="34" charset="0"/>
              <a:buChar char="•"/>
            </a:pPr>
            <a:r>
              <a:rPr lang="fr-FR" sz="2400" dirty="0" err="1">
                <a:latin typeface="Times New Roman" panose="02020603050405020304" pitchFamily="18" charset="0"/>
                <a:cs typeface="Times New Roman" panose="02020603050405020304" pitchFamily="18" charset="0"/>
              </a:rPr>
              <a:t>Results</a:t>
            </a:r>
            <a:r>
              <a:rPr lang="fr-FR" sz="2400" dirty="0">
                <a:latin typeface="Times New Roman" panose="02020603050405020304" pitchFamily="18" charset="0"/>
                <a:cs typeface="Times New Roman" panose="02020603050405020304" pitchFamily="18" charset="0"/>
              </a:rPr>
              <a:t> </a:t>
            </a:r>
          </a:p>
          <a:p>
            <a:pPr marL="285750" indent="-285750">
              <a:lnSpc>
                <a:spcPct val="20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Conclusion &amp; Future </a:t>
            </a:r>
            <a:r>
              <a:rPr lang="fr-FR" sz="2400" dirty="0" err="1">
                <a:latin typeface="Times New Roman" panose="02020603050405020304" pitchFamily="18" charset="0"/>
                <a:cs typeface="Times New Roman" panose="02020603050405020304" pitchFamily="18" charset="0"/>
              </a:rPr>
              <a:t>Enhancement</a:t>
            </a:r>
            <a:r>
              <a:rPr lang="fr-FR" sz="2400" dirty="0">
                <a:latin typeface="Times New Roman" panose="02020603050405020304" pitchFamily="18" charset="0"/>
                <a:cs typeface="Times New Roman" panose="02020603050405020304" pitchFamily="18" charset="0"/>
              </a:rPr>
              <a:t> </a:t>
            </a:r>
          </a:p>
          <a:p>
            <a:pPr marL="285750" indent="-285750">
              <a:lnSpc>
                <a:spcPct val="200000"/>
              </a:lnSpc>
              <a:buFont typeface="Arial" panose="020B0604020202020204" pitchFamily="34" charset="0"/>
              <a:buChar char="•"/>
            </a:pPr>
            <a:r>
              <a:rPr lang="fr-FR" sz="2400" dirty="0" err="1">
                <a:latin typeface="Times New Roman" panose="02020603050405020304" pitchFamily="18" charset="0"/>
                <a:cs typeface="Times New Roman" panose="02020603050405020304" pitchFamily="18" charset="0"/>
              </a:rPr>
              <a:t>References</a:t>
            </a:r>
            <a:r>
              <a:rPr lang="fr-FR" sz="2400" dirty="0">
                <a:latin typeface="Times New Roman" panose="02020603050405020304" pitchFamily="18" charset="0"/>
                <a:cs typeface="Times New Roman" panose="02020603050405020304" pitchFamily="18" charset="0"/>
              </a:rPr>
              <a:t> </a:t>
            </a:r>
          </a:p>
          <a:p>
            <a:pPr marL="285750" indent="-285750">
              <a:lnSpc>
                <a:spcPct val="20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GitHub Link</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7094" y="2207594"/>
            <a:ext cx="16230600" cy="6526651"/>
            <a:chOff x="0" y="0"/>
            <a:chExt cx="4274726" cy="1718953"/>
          </a:xfrm>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335931" y="687305"/>
            <a:ext cx="9632605" cy="1520289"/>
            <a:chOff x="0" y="0"/>
            <a:chExt cx="2109623" cy="400405"/>
          </a:xfrm>
        </p:grpSpPr>
        <p:sp>
          <p:nvSpPr>
            <p:cNvPr id="6" name="Freeform 6"/>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dirty="0"/>
            </a:p>
          </p:txBody>
        </p:sp>
        <p:sp>
          <p:nvSpPr>
            <p:cNvPr id="7" name="TextBox 7"/>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543721" y="859651"/>
            <a:ext cx="9200557" cy="1231106"/>
          </a:xfrm>
          <a:prstGeom prst="rect">
            <a:avLst/>
          </a:prstGeom>
        </p:spPr>
        <p:txBody>
          <a:bodyPr wrap="square"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INTRODUCTION AND OVERVIEW OF THE PROJECT</a:t>
            </a:r>
          </a:p>
        </p:txBody>
      </p:sp>
      <p:sp>
        <p:nvSpPr>
          <p:cNvPr id="12" name="TextBox 12"/>
          <p:cNvSpPr txBox="1"/>
          <p:nvPr/>
        </p:nvSpPr>
        <p:spPr>
          <a:xfrm>
            <a:off x="1403139" y="2859766"/>
            <a:ext cx="15481720" cy="5058116"/>
          </a:xfrm>
          <a:prstGeom prst="rect">
            <a:avLst/>
          </a:prstGeom>
        </p:spPr>
        <p:txBody>
          <a:bodyPr wrap="square" lIns="0" tIns="0" rIns="0" bIns="0" rtlCol="0" anchor="t">
            <a:spAutoFit/>
          </a:bodyPr>
          <a:lstStyle/>
          <a:p>
            <a:pPr lvl="0" algn="just" eaLnBrk="0" fontAlgn="base" hangingPunct="0">
              <a:lnSpc>
                <a:spcPct val="200000"/>
              </a:lnSpc>
              <a:spcBef>
                <a:spcPct val="0"/>
              </a:spcBef>
              <a:spcAft>
                <a:spcPct val="0"/>
              </a:spcAft>
            </a:pPr>
            <a:r>
              <a:rPr lang="en-US" sz="2400" dirty="0">
                <a:latin typeface="Times New Roman" panose="02020603050405020304" pitchFamily="18" charset="0"/>
                <a:cs typeface="Times New Roman" panose="02020603050405020304" pitchFamily="18" charset="0"/>
              </a:rPr>
              <a:t>Land registration systems are critical for securing property ownership rights and enabling transparent transactions. Traditionally, these systems rely on centralized databases, which are susceptible to unauthorized modifications by administrators, resulting in ownership disputes, fraudulent transfers, and loss of public trust. A blockchain–AI framework designed to secure land registration and prevent fraud. Using IPFS for decentralized storage and Ethereum smart contracts for immutability, the system ensures tamper-proof records. AI models such as Logistic Regression,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CNN2D analyze transaction data to detect fraudulent activities in real time. Buyers and sellers interact through a web interface that enables registration, verification, and decision-making, ensuring transparency and trust in land transactions.</a:t>
            </a:r>
            <a:endParaRPr lang="en-US" alt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370A1B3-7F18-B16F-1918-9DD5FE8015FC}"/>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9" name="Picture 8">
            <a:extLst>
              <a:ext uri="{FF2B5EF4-FFF2-40B4-BE49-F238E27FC236}">
                <a16:creationId xmlns:a16="http://schemas.microsoft.com/office/drawing/2014/main" id="{07D6E411-AD31-B018-D291-87E9202B4E2C}"/>
              </a:ext>
            </a:extLst>
          </p:cNvPr>
          <p:cNvPicPr>
            <a:picLocks noChangeAspect="1"/>
          </p:cNvPicPr>
          <p:nvPr/>
        </p:nvPicPr>
        <p:blipFill>
          <a:blip r:embed="rId3"/>
          <a:stretch>
            <a:fillRect/>
          </a:stretch>
        </p:blipFill>
        <p:spPr>
          <a:xfrm>
            <a:off x="15174528" y="188043"/>
            <a:ext cx="2074390" cy="17302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DDA43-D2FF-3CFC-0B02-C99DE16EB9B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06A158-4100-B246-CD73-BA08F4C653C6}"/>
              </a:ext>
            </a:extLst>
          </p:cNvPr>
          <p:cNvGrpSpPr/>
          <p:nvPr/>
        </p:nvGrpSpPr>
        <p:grpSpPr>
          <a:xfrm>
            <a:off x="1028699" y="2223817"/>
            <a:ext cx="16230600" cy="6526651"/>
            <a:chOff x="0" y="0"/>
            <a:chExt cx="4274726" cy="1718953"/>
          </a:xfrm>
        </p:grpSpPr>
        <p:sp>
          <p:nvSpPr>
            <p:cNvPr id="3" name="Freeform 3">
              <a:extLst>
                <a:ext uri="{FF2B5EF4-FFF2-40B4-BE49-F238E27FC236}">
                  <a16:creationId xmlns:a16="http://schemas.microsoft.com/office/drawing/2014/main" id="{8F3BF765-3EAB-A511-E781-F84AE5F55BE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dirty="0"/>
            </a:p>
          </p:txBody>
        </p:sp>
        <p:sp>
          <p:nvSpPr>
            <p:cNvPr id="4" name="TextBox 4">
              <a:extLst>
                <a:ext uri="{FF2B5EF4-FFF2-40B4-BE49-F238E27FC236}">
                  <a16:creationId xmlns:a16="http://schemas.microsoft.com/office/drawing/2014/main" id="{2180411C-9D34-2465-E112-D77A9C66D7BE}"/>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578429D-1BED-1F97-EF3D-9BF306C22ED9}"/>
              </a:ext>
            </a:extLst>
          </p:cNvPr>
          <p:cNvGrpSpPr/>
          <p:nvPr/>
        </p:nvGrpSpPr>
        <p:grpSpPr>
          <a:xfrm>
            <a:off x="5903640" y="895028"/>
            <a:ext cx="6408712" cy="1312566"/>
            <a:chOff x="0" y="0"/>
            <a:chExt cx="2109623" cy="400405"/>
          </a:xfrm>
        </p:grpSpPr>
        <p:sp>
          <p:nvSpPr>
            <p:cNvPr id="6" name="Freeform 6">
              <a:extLst>
                <a:ext uri="{FF2B5EF4-FFF2-40B4-BE49-F238E27FC236}">
                  <a16:creationId xmlns:a16="http://schemas.microsoft.com/office/drawing/2014/main" id="{BE895B5C-BBEB-D889-A804-B34E8398BBC6}"/>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FD6861FA-4FFE-5EED-005B-2ADD03C554B0}"/>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D15910AA-277D-DA1A-D29D-4178F5759C97}"/>
              </a:ext>
            </a:extLst>
          </p:cNvPr>
          <p:cNvSpPr txBox="1"/>
          <p:nvPr/>
        </p:nvSpPr>
        <p:spPr>
          <a:xfrm>
            <a:off x="4543721" y="781050"/>
            <a:ext cx="9200557" cy="1014701"/>
          </a:xfrm>
          <a:prstGeom prst="rect">
            <a:avLst/>
          </a:prstGeom>
        </p:spPr>
        <p:txBody>
          <a:bodyPr lIns="0" tIns="0" rIns="0" bIns="0" rtlCol="0" anchor="t">
            <a:spAutoFit/>
          </a:bodyPr>
          <a:lstStyle/>
          <a:p>
            <a:pPr algn="ctr">
              <a:lnSpc>
                <a:spcPts val="9250"/>
              </a:lnSpc>
            </a:pPr>
            <a:r>
              <a:rPr lang="en-US" sz="4000" b="1" dirty="0">
                <a:solidFill>
                  <a:srgbClr val="000000"/>
                </a:solidFill>
                <a:latin typeface="Times New Roman" panose="02020603050405020304" pitchFamily="18" charset="0"/>
                <a:cs typeface="Times New Roman" panose="02020603050405020304" pitchFamily="18" charset="0"/>
              </a:rPr>
              <a:t>EXISTING  SYSTEM</a:t>
            </a:r>
          </a:p>
        </p:txBody>
      </p:sp>
      <p:pic>
        <p:nvPicPr>
          <p:cNvPr id="8" name="Picture 7">
            <a:extLst>
              <a:ext uri="{FF2B5EF4-FFF2-40B4-BE49-F238E27FC236}">
                <a16:creationId xmlns:a16="http://schemas.microsoft.com/office/drawing/2014/main" id="{D047DD39-BED2-A25C-52D5-A7E0EFDCEF48}"/>
              </a:ext>
            </a:extLst>
          </p:cNvPr>
          <p:cNvPicPr>
            <a:picLocks noChangeAspect="1"/>
          </p:cNvPicPr>
          <p:nvPr/>
        </p:nvPicPr>
        <p:blipFill>
          <a:blip r:embed="rId2"/>
          <a:stretch>
            <a:fillRect/>
          </a:stretch>
        </p:blipFill>
        <p:spPr>
          <a:xfrm>
            <a:off x="-669184" y="1042154"/>
            <a:ext cx="3395766" cy="1048603"/>
          </a:xfrm>
          <a:prstGeom prst="rect">
            <a:avLst/>
          </a:prstGeom>
        </p:spPr>
      </p:pic>
      <p:sp>
        <p:nvSpPr>
          <p:cNvPr id="10" name="TextBox 9">
            <a:extLst>
              <a:ext uri="{FF2B5EF4-FFF2-40B4-BE49-F238E27FC236}">
                <a16:creationId xmlns:a16="http://schemas.microsoft.com/office/drawing/2014/main" id="{342B0039-8183-AB89-A198-E17860BFB140}"/>
              </a:ext>
            </a:extLst>
          </p:cNvPr>
          <p:cNvSpPr txBox="1"/>
          <p:nvPr/>
        </p:nvSpPr>
        <p:spPr>
          <a:xfrm>
            <a:off x="1799183" y="2779202"/>
            <a:ext cx="14689632" cy="4411785"/>
          </a:xfrm>
          <a:prstGeom prst="rect">
            <a:avLst/>
          </a:prstGeom>
          <a:noFill/>
        </p:spPr>
        <p:txBody>
          <a:bodyPr wrap="square">
            <a:spAutoFit/>
          </a:bodyPr>
          <a:lstStyle/>
          <a:p>
            <a:pPr algn="just">
              <a:lnSpc>
                <a:spcPct val="200000"/>
              </a:lnSpc>
            </a:pPr>
            <a:r>
              <a:rPr lang="en-US" sz="2400" dirty="0">
                <a:latin typeface="Times New Roman" panose="02020603050405020304" pitchFamily="18" charset="0"/>
                <a:cs typeface="Times New Roman" panose="02020603050405020304" pitchFamily="18" charset="0"/>
              </a:rPr>
              <a:t>In the traditional land registration process, buyers and sellers rely on manual paperwork and government intermediaries to validate ownership, property records, and transactions. Land documents are physically stored in centralized government offices, and the transfer of ownership involves multiple verification steps, physical signatures, and approvals from different authorities. This system depends heavily on human intervention for verification, record-keeping, and conflict resolution, often requiring individuals to make repeated visits to offices for document submission, validation, and status updates.</a:t>
            </a:r>
            <a:endParaRPr lang="en-IN" sz="24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5B987E6-AF2C-C0C7-C85B-77C63C3E5DB6}"/>
              </a:ext>
            </a:extLst>
          </p:cNvPr>
          <p:cNvPicPr>
            <a:picLocks noChangeAspect="1"/>
          </p:cNvPicPr>
          <p:nvPr/>
        </p:nvPicPr>
        <p:blipFill>
          <a:blip r:embed="rId3"/>
          <a:stretch>
            <a:fillRect/>
          </a:stretch>
        </p:blipFill>
        <p:spPr>
          <a:xfrm>
            <a:off x="15180383" y="214711"/>
            <a:ext cx="2078916" cy="1731414"/>
          </a:xfrm>
          <a:prstGeom prst="rect">
            <a:avLst/>
          </a:prstGeom>
        </p:spPr>
      </p:pic>
    </p:spTree>
    <p:extLst>
      <p:ext uri="{BB962C8B-B14F-4D97-AF65-F5344CB8AC3E}">
        <p14:creationId xmlns:p14="http://schemas.microsoft.com/office/powerpoint/2010/main" val="405652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B2F5D-8403-4A2A-017D-F3590C5E116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26D1A7-9C38-EA0C-2827-BCF0DAB828C7}"/>
              </a:ext>
            </a:extLst>
          </p:cNvPr>
          <p:cNvGrpSpPr/>
          <p:nvPr/>
        </p:nvGrpSpPr>
        <p:grpSpPr>
          <a:xfrm>
            <a:off x="998445" y="2212692"/>
            <a:ext cx="16230600" cy="6526651"/>
            <a:chOff x="0" y="0"/>
            <a:chExt cx="4274726" cy="1718953"/>
          </a:xfrm>
        </p:grpSpPr>
        <p:sp>
          <p:nvSpPr>
            <p:cNvPr id="3" name="Freeform 3">
              <a:extLst>
                <a:ext uri="{FF2B5EF4-FFF2-40B4-BE49-F238E27FC236}">
                  <a16:creationId xmlns:a16="http://schemas.microsoft.com/office/drawing/2014/main" id="{64A2278F-3F53-3282-F909-3605CC06BC5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dirty="0"/>
            </a:p>
          </p:txBody>
        </p:sp>
        <p:sp>
          <p:nvSpPr>
            <p:cNvPr id="4" name="TextBox 4">
              <a:extLst>
                <a:ext uri="{FF2B5EF4-FFF2-40B4-BE49-F238E27FC236}">
                  <a16:creationId xmlns:a16="http://schemas.microsoft.com/office/drawing/2014/main" id="{A1D86569-425F-82D4-9196-AEDAA07BDFE2}"/>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E8D77B6-1BD5-4FCC-F053-FE47E3FA7552}"/>
              </a:ext>
            </a:extLst>
          </p:cNvPr>
          <p:cNvGrpSpPr/>
          <p:nvPr/>
        </p:nvGrpSpPr>
        <p:grpSpPr>
          <a:xfrm>
            <a:off x="5139012" y="687305"/>
            <a:ext cx="8009976" cy="1520289"/>
            <a:chOff x="0" y="0"/>
            <a:chExt cx="2109623" cy="400405"/>
          </a:xfrm>
        </p:grpSpPr>
        <p:sp>
          <p:nvSpPr>
            <p:cNvPr id="6" name="Freeform 6">
              <a:extLst>
                <a:ext uri="{FF2B5EF4-FFF2-40B4-BE49-F238E27FC236}">
                  <a16:creationId xmlns:a16="http://schemas.microsoft.com/office/drawing/2014/main" id="{D1C70F73-11FE-B429-6002-7E184ADF654E}"/>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3EF99BE7-8FE9-A19E-9C5B-00A4F690BB77}"/>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B4767AFC-231B-515A-9D72-A65D3EC4821C}"/>
              </a:ext>
            </a:extLst>
          </p:cNvPr>
          <p:cNvSpPr txBox="1"/>
          <p:nvPr/>
        </p:nvSpPr>
        <p:spPr>
          <a:xfrm>
            <a:off x="4543721" y="781050"/>
            <a:ext cx="9200557" cy="1231106"/>
          </a:xfrm>
          <a:prstGeom prst="rect">
            <a:avLst/>
          </a:prstGeom>
        </p:spPr>
        <p:txBody>
          <a:bodyPr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EXISTING  SYSTEM-DISADVANTAGES</a:t>
            </a:r>
          </a:p>
        </p:txBody>
      </p:sp>
      <p:pic>
        <p:nvPicPr>
          <p:cNvPr id="8" name="Picture 7">
            <a:extLst>
              <a:ext uri="{FF2B5EF4-FFF2-40B4-BE49-F238E27FC236}">
                <a16:creationId xmlns:a16="http://schemas.microsoft.com/office/drawing/2014/main" id="{53EF7B08-4FA2-0262-4D7C-CE0285A0DF0E}"/>
              </a:ext>
            </a:extLst>
          </p:cNvPr>
          <p:cNvPicPr>
            <a:picLocks noChangeAspect="1"/>
          </p:cNvPicPr>
          <p:nvPr/>
        </p:nvPicPr>
        <p:blipFill>
          <a:blip r:embed="rId2"/>
          <a:stretch>
            <a:fillRect/>
          </a:stretch>
        </p:blipFill>
        <p:spPr>
          <a:xfrm>
            <a:off x="-669184" y="1042154"/>
            <a:ext cx="3395766" cy="1048603"/>
          </a:xfrm>
          <a:prstGeom prst="rect">
            <a:avLst/>
          </a:prstGeom>
        </p:spPr>
      </p:pic>
      <p:sp>
        <p:nvSpPr>
          <p:cNvPr id="10" name="TextBox 9">
            <a:extLst>
              <a:ext uri="{FF2B5EF4-FFF2-40B4-BE49-F238E27FC236}">
                <a16:creationId xmlns:a16="http://schemas.microsoft.com/office/drawing/2014/main" id="{911B3E15-3F51-F9BF-660D-9F1EE8481D23}"/>
              </a:ext>
            </a:extLst>
          </p:cNvPr>
          <p:cNvSpPr txBox="1"/>
          <p:nvPr/>
        </p:nvSpPr>
        <p:spPr>
          <a:xfrm>
            <a:off x="1799183" y="3131234"/>
            <a:ext cx="14689632" cy="4411785"/>
          </a:xfrm>
          <a:prstGeom prst="rect">
            <a:avLst/>
          </a:prstGeom>
          <a:noFill/>
        </p:spPr>
        <p:txBody>
          <a:bodyPr wrap="square">
            <a:spAutoFit/>
          </a:bodyPr>
          <a:lstStyle/>
          <a:p>
            <a:pPr marL="285750" lvl="0" indent="-28575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manual land registration system is prone to inefficiency, delays, and human errors, making the process time-consuming and unreliable. </a:t>
            </a:r>
            <a:endParaRPr lang="en-IN" sz="2400" dirty="0">
              <a:latin typeface="Times New Roman" panose="02020603050405020304" pitchFamily="18" charset="0"/>
              <a:cs typeface="Times New Roman" panose="02020603050405020304" pitchFamily="18" charset="0"/>
            </a:endParaRPr>
          </a:p>
          <a:p>
            <a:pPr marL="285750" lvl="0" indent="-28575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Centralized storage of land records increases the risk of document tampering, forgery, and data loss due to natural disasters or mishandling. </a:t>
            </a:r>
            <a:endParaRPr lang="en-IN" sz="2400" dirty="0">
              <a:latin typeface="Times New Roman" panose="02020603050405020304" pitchFamily="18" charset="0"/>
              <a:cs typeface="Times New Roman" panose="02020603050405020304" pitchFamily="18" charset="0"/>
            </a:endParaRPr>
          </a:p>
          <a:p>
            <a:pPr marL="285750" lvl="0" indent="-28575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Corruption and unauthorized alterations of records are common, leading to ownership disputes and fraudulent property transfers. </a:t>
            </a: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6625CB8-E3EF-D1E8-A987-294EF43FF57A}"/>
              </a:ext>
            </a:extLst>
          </p:cNvPr>
          <p:cNvPicPr>
            <a:picLocks noChangeAspect="1"/>
          </p:cNvPicPr>
          <p:nvPr/>
        </p:nvPicPr>
        <p:blipFill>
          <a:blip r:embed="rId3"/>
          <a:stretch>
            <a:fillRect/>
          </a:stretch>
        </p:blipFill>
        <p:spPr>
          <a:xfrm>
            <a:off x="15117250" y="280742"/>
            <a:ext cx="2078916" cy="1731414"/>
          </a:xfrm>
          <a:prstGeom prst="rect">
            <a:avLst/>
          </a:prstGeom>
        </p:spPr>
      </p:pic>
    </p:spTree>
    <p:extLst>
      <p:ext uri="{BB962C8B-B14F-4D97-AF65-F5344CB8AC3E}">
        <p14:creationId xmlns:p14="http://schemas.microsoft.com/office/powerpoint/2010/main" val="216301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94779" y="2127083"/>
            <a:ext cx="16230600" cy="7295773"/>
            <a:chOff x="0" y="0"/>
            <a:chExt cx="4274726" cy="1718953"/>
          </a:xfrm>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780056" y="997729"/>
            <a:ext cx="6892336" cy="1162752"/>
            <a:chOff x="0" y="0"/>
            <a:chExt cx="2109623" cy="306239"/>
          </a:xfrm>
        </p:grpSpPr>
        <p:sp>
          <p:nvSpPr>
            <p:cNvPr id="6" name="Freeform 6"/>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a:p>
          </p:txBody>
        </p:sp>
        <p:sp>
          <p:nvSpPr>
            <p:cNvPr id="7" name="TextBox 7"/>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729257" y="3271292"/>
            <a:ext cx="14761643" cy="6535443"/>
          </a:xfrm>
          <a:prstGeom prst="rect">
            <a:avLst/>
          </a:prstGeom>
        </p:spPr>
        <p:txBody>
          <a:bodyPr wrap="square" lIns="0" tIns="0" rIns="0" bIns="0" rtlCol="0" anchor="t">
            <a:spAutoFit/>
          </a:bodyPr>
          <a:lstStyle/>
          <a:p>
            <a:pPr algn="just" eaLnBrk="0" fontAlgn="base" hangingPunct="0">
              <a:lnSpc>
                <a:spcPct val="200000"/>
              </a:lnSpc>
              <a:spcBef>
                <a:spcPct val="0"/>
              </a:spcBef>
              <a:spcAft>
                <a:spcPct val="0"/>
              </a:spcAft>
            </a:pPr>
            <a:r>
              <a:rPr lang="en-US" sz="2400" dirty="0">
                <a:latin typeface="Times New Roman" panose="02020603050405020304" pitchFamily="18" charset="0"/>
                <a:cs typeface="Times New Roman" panose="02020603050405020304" pitchFamily="18" charset="0"/>
              </a:rPr>
              <a:t>The proposed system leverages blockchain and IPFS for decentralized, tamper-proof storage, with Ethereum smart contracts ensuring ownership proof. AI models, especially </a:t>
            </a:r>
            <a:r>
              <a:rPr lang="en-US" sz="2400" dirty="0" err="1">
                <a:latin typeface="Times New Roman" panose="02020603050405020304" pitchFamily="18" charset="0"/>
                <a:cs typeface="Times New Roman" panose="02020603050405020304" pitchFamily="18" charset="0"/>
              </a:rPr>
              <a:t>LightGBM</a:t>
            </a:r>
            <a:r>
              <a:rPr lang="en-US" sz="2400" dirty="0">
                <a:latin typeface="Times New Roman" panose="02020603050405020304" pitchFamily="18" charset="0"/>
                <a:cs typeface="Times New Roman" panose="02020603050405020304" pitchFamily="18" charset="0"/>
              </a:rPr>
              <a:t>, detect fraudulent patterns in real time. A Django-based web application allows buyers, sellers, and administrators to register, verify, and track </a:t>
            </a:r>
            <a:r>
              <a:rPr lang="en-US" sz="2400" dirty="0" err="1">
                <a:latin typeface="Times New Roman" panose="02020603050405020304" pitchFamily="18" charset="0"/>
                <a:cs typeface="Times New Roman" panose="02020603050405020304" pitchFamily="18" charset="0"/>
              </a:rPr>
              <a:t>transactions.By</a:t>
            </a:r>
            <a:r>
              <a:rPr lang="en-US" sz="2400" dirty="0">
                <a:latin typeface="Times New Roman" panose="02020603050405020304" pitchFamily="18" charset="0"/>
                <a:cs typeface="Times New Roman" panose="02020603050405020304" pitchFamily="18" charset="0"/>
              </a:rPr>
              <a:t> combining decentralization (IPFS + blockchain) with automation (smart contracts + AI inference), the system ensures higher security, transparency, fraud prevention, and trust in land registration processes compared to traditional manual systems.</a:t>
            </a:r>
            <a:endParaRPr lang="en-IN" sz="2400" dirty="0">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pPr>
            <a:endParaRPr lang="en-US" sz="2400" dirty="0">
              <a:latin typeface="Times New Roman" panose="02020603050405020304" pitchFamily="18" charset="0"/>
              <a:cs typeface="Times New Roman" panose="02020603050405020304" pitchFamily="18" charset="0"/>
            </a:endParaRPr>
          </a:p>
          <a:p>
            <a:pPr algn="just" eaLnBrk="0" fontAlgn="base" hangingPunct="0">
              <a:lnSpc>
                <a:spcPct val="200000"/>
              </a:lnSpc>
              <a:spcBef>
                <a:spcPct val="0"/>
              </a:spcBef>
              <a:spcAft>
                <a:spcPct val="0"/>
              </a:spcAft>
            </a:pPr>
            <a:endParaRPr lang="en-US" sz="2400" b="1" dirty="0">
              <a:solidFill>
                <a:srgbClr val="000000"/>
              </a:solidFill>
              <a:latin typeface="Times New Roman" panose="02020603050405020304" pitchFamily="18" charset="0"/>
              <a:cs typeface="Times New Roman" panose="02020603050405020304" pitchFamily="18" charset="0"/>
            </a:endParaRPr>
          </a:p>
          <a:p>
            <a:pPr algn="just" eaLnBrk="0" fontAlgn="base" hangingPunct="0">
              <a:lnSpc>
                <a:spcPct val="200000"/>
              </a:lnSpc>
              <a:spcBef>
                <a:spcPct val="0"/>
              </a:spcBef>
              <a:spcAft>
                <a:spcPct val="0"/>
              </a:spcAft>
            </a:pPr>
            <a:endParaRPr lang="en-US" sz="2400" dirty="0">
              <a:solidFill>
                <a:srgbClr val="000000"/>
              </a:solidFill>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p:txBody>
      </p:sp>
      <p:sp>
        <p:nvSpPr>
          <p:cNvPr id="12" name="Freeform 12"/>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13"/>
          <p:cNvSpPr txBox="1"/>
          <p:nvPr/>
        </p:nvSpPr>
        <p:spPr>
          <a:xfrm>
            <a:off x="5355795" y="1110528"/>
            <a:ext cx="7576409" cy="774251"/>
          </a:xfrm>
          <a:prstGeom prst="rect">
            <a:avLst/>
          </a:prstGeom>
        </p:spPr>
        <p:txBody>
          <a:bodyPr lIns="0" tIns="0" rIns="0" bIns="0" rtlCol="0" anchor="t">
            <a:spAutoFit/>
          </a:bodyPr>
          <a:lstStyle/>
          <a:p>
            <a:pPr algn="ctr">
              <a:lnSpc>
                <a:spcPts val="6788"/>
              </a:lnSpc>
            </a:pPr>
            <a:r>
              <a:rPr lang="en-US" sz="4000" b="1" dirty="0">
                <a:solidFill>
                  <a:srgbClr val="000000"/>
                </a:solidFill>
                <a:latin typeface="Times New Roman" panose="02020603050405020304" pitchFamily="18" charset="0"/>
                <a:cs typeface="Times New Roman" panose="02020603050405020304" pitchFamily="18" charset="0"/>
              </a:rPr>
              <a:t>PROPOSED SYSTEM</a:t>
            </a:r>
          </a:p>
        </p:txBody>
      </p:sp>
      <p:pic>
        <p:nvPicPr>
          <p:cNvPr id="8" name="Picture 7">
            <a:extLst>
              <a:ext uri="{FF2B5EF4-FFF2-40B4-BE49-F238E27FC236}">
                <a16:creationId xmlns:a16="http://schemas.microsoft.com/office/drawing/2014/main" id="{02692A7B-5AF6-214C-DBD4-0A41153B8958}"/>
              </a:ext>
            </a:extLst>
          </p:cNvPr>
          <p:cNvPicPr>
            <a:picLocks noChangeAspect="1"/>
          </p:cNvPicPr>
          <p:nvPr/>
        </p:nvPicPr>
        <p:blipFill>
          <a:blip r:embed="rId4"/>
          <a:stretch>
            <a:fillRect/>
          </a:stretch>
        </p:blipFill>
        <p:spPr>
          <a:xfrm>
            <a:off x="14904640" y="177939"/>
            <a:ext cx="2078916" cy="17314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7B0D2-41C1-6AA7-8D75-04359035C7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CA2353-C19C-5AB0-CE59-74D57A2D24BC}"/>
              </a:ext>
            </a:extLst>
          </p:cNvPr>
          <p:cNvGrpSpPr/>
          <p:nvPr/>
        </p:nvGrpSpPr>
        <p:grpSpPr>
          <a:xfrm>
            <a:off x="1060727" y="2173533"/>
            <a:ext cx="16230600" cy="6526651"/>
            <a:chOff x="0" y="0"/>
            <a:chExt cx="4274726" cy="1718953"/>
          </a:xfrm>
        </p:grpSpPr>
        <p:sp>
          <p:nvSpPr>
            <p:cNvPr id="3" name="Freeform 3">
              <a:extLst>
                <a:ext uri="{FF2B5EF4-FFF2-40B4-BE49-F238E27FC236}">
                  <a16:creationId xmlns:a16="http://schemas.microsoft.com/office/drawing/2014/main" id="{756B5A7E-E7CF-99AB-BD0D-DC1CB5E2122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dirty="0"/>
            </a:p>
          </p:txBody>
        </p:sp>
        <p:sp>
          <p:nvSpPr>
            <p:cNvPr id="4" name="TextBox 4">
              <a:extLst>
                <a:ext uri="{FF2B5EF4-FFF2-40B4-BE49-F238E27FC236}">
                  <a16:creationId xmlns:a16="http://schemas.microsoft.com/office/drawing/2014/main" id="{467591A4-DFBE-4FCA-D220-CFDF9D7070E0}"/>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593FDD-8EFF-7CAB-2AC9-B0A7A10BD2DD}"/>
              </a:ext>
            </a:extLst>
          </p:cNvPr>
          <p:cNvGrpSpPr/>
          <p:nvPr/>
        </p:nvGrpSpPr>
        <p:grpSpPr>
          <a:xfrm>
            <a:off x="5139012" y="687305"/>
            <a:ext cx="8009976" cy="1520289"/>
            <a:chOff x="0" y="0"/>
            <a:chExt cx="2109623" cy="400405"/>
          </a:xfrm>
        </p:grpSpPr>
        <p:sp>
          <p:nvSpPr>
            <p:cNvPr id="6" name="Freeform 6">
              <a:extLst>
                <a:ext uri="{FF2B5EF4-FFF2-40B4-BE49-F238E27FC236}">
                  <a16:creationId xmlns:a16="http://schemas.microsoft.com/office/drawing/2014/main" id="{47A4DDA1-CA12-2A66-B263-06BC67CAD417}"/>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4AF3C6BC-F575-401A-7DAA-357C6DD6323E}"/>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D3670244-F9BF-A4CE-1E05-3F804800C900}"/>
              </a:ext>
            </a:extLst>
          </p:cNvPr>
          <p:cNvSpPr txBox="1"/>
          <p:nvPr/>
        </p:nvSpPr>
        <p:spPr>
          <a:xfrm>
            <a:off x="4543721" y="781050"/>
            <a:ext cx="9200557" cy="1231106"/>
          </a:xfrm>
          <a:prstGeom prst="rect">
            <a:avLst/>
          </a:prstGeom>
        </p:spPr>
        <p:txBody>
          <a:bodyPr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PROPOSED  SYSTEM-</a:t>
            </a:r>
          </a:p>
          <a:p>
            <a:pPr algn="ctr"/>
            <a:r>
              <a:rPr lang="en-US" sz="4000" b="1" dirty="0">
                <a:solidFill>
                  <a:srgbClr val="000000"/>
                </a:solidFill>
                <a:latin typeface="Times New Roman" panose="02020603050405020304" pitchFamily="18" charset="0"/>
                <a:cs typeface="Times New Roman" panose="02020603050405020304" pitchFamily="18" charset="0"/>
              </a:rPr>
              <a:t>ADVANTAGES</a:t>
            </a:r>
          </a:p>
        </p:txBody>
      </p:sp>
      <p:pic>
        <p:nvPicPr>
          <p:cNvPr id="8" name="Picture 7">
            <a:extLst>
              <a:ext uri="{FF2B5EF4-FFF2-40B4-BE49-F238E27FC236}">
                <a16:creationId xmlns:a16="http://schemas.microsoft.com/office/drawing/2014/main" id="{7F0C331C-3487-BF58-C15B-D6DC51FE2676}"/>
              </a:ext>
            </a:extLst>
          </p:cNvPr>
          <p:cNvPicPr>
            <a:picLocks noChangeAspect="1"/>
          </p:cNvPicPr>
          <p:nvPr/>
        </p:nvPicPr>
        <p:blipFill>
          <a:blip r:embed="rId2"/>
          <a:stretch>
            <a:fillRect/>
          </a:stretch>
        </p:blipFill>
        <p:spPr>
          <a:xfrm>
            <a:off x="-669184" y="1042154"/>
            <a:ext cx="3395766" cy="1048603"/>
          </a:xfrm>
          <a:prstGeom prst="rect">
            <a:avLst/>
          </a:prstGeom>
        </p:spPr>
      </p:pic>
      <p:sp>
        <p:nvSpPr>
          <p:cNvPr id="10" name="TextBox 9">
            <a:extLst>
              <a:ext uri="{FF2B5EF4-FFF2-40B4-BE49-F238E27FC236}">
                <a16:creationId xmlns:a16="http://schemas.microsoft.com/office/drawing/2014/main" id="{285FCA4F-268B-C655-6503-5A47FB4D559D}"/>
              </a:ext>
            </a:extLst>
          </p:cNvPr>
          <p:cNvSpPr txBox="1"/>
          <p:nvPr/>
        </p:nvSpPr>
        <p:spPr>
          <a:xfrm>
            <a:off x="1831211" y="2854213"/>
            <a:ext cx="14689632" cy="2195794"/>
          </a:xfrm>
          <a:prstGeom prst="rect">
            <a:avLst/>
          </a:prstGeom>
          <a:noFill/>
        </p:spPr>
        <p:txBody>
          <a:bodyPr wrap="square">
            <a:spAutoFit/>
          </a:bodyPr>
          <a:lstStyle/>
          <a:p>
            <a:pPr marL="285750" lvl="0" indent="-28575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Immutability and Data Integrity</a:t>
            </a:r>
            <a:endParaRPr lang="en-IN" sz="2400" dirty="0">
              <a:latin typeface="Times New Roman" panose="02020603050405020304" pitchFamily="18" charset="0"/>
              <a:cs typeface="Times New Roman" panose="02020603050405020304" pitchFamily="18" charset="0"/>
            </a:endParaRPr>
          </a:p>
          <a:p>
            <a:pPr marL="285750" lvl="0" indent="-28575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Enhanced Security</a:t>
            </a:r>
            <a:endParaRPr lang="en-IN" sz="2400" dirty="0">
              <a:latin typeface="Times New Roman" panose="02020603050405020304" pitchFamily="18" charset="0"/>
              <a:cs typeface="Times New Roman" panose="02020603050405020304" pitchFamily="18" charset="0"/>
            </a:endParaRPr>
          </a:p>
          <a:p>
            <a:pPr marL="285750" lvl="0" indent="-28575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Transparency and Verifiability</a:t>
            </a: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D6E713A-1943-D785-F764-27A597E59C4D}"/>
              </a:ext>
            </a:extLst>
          </p:cNvPr>
          <p:cNvPicPr>
            <a:picLocks noChangeAspect="1"/>
          </p:cNvPicPr>
          <p:nvPr/>
        </p:nvPicPr>
        <p:blipFill>
          <a:blip r:embed="rId3"/>
          <a:stretch>
            <a:fillRect/>
          </a:stretch>
        </p:blipFill>
        <p:spPr>
          <a:xfrm>
            <a:off x="15117250" y="280742"/>
            <a:ext cx="2078916" cy="1731414"/>
          </a:xfrm>
          <a:prstGeom prst="rect">
            <a:avLst/>
          </a:prstGeom>
        </p:spPr>
      </p:pic>
    </p:spTree>
    <p:extLst>
      <p:ext uri="{BB962C8B-B14F-4D97-AF65-F5344CB8AC3E}">
        <p14:creationId xmlns:p14="http://schemas.microsoft.com/office/powerpoint/2010/main" val="47288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73936-B335-F1EC-8E45-2C4FC031F4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7A10D2-0171-63A6-CD20-3DB122D722AE}"/>
              </a:ext>
            </a:extLst>
          </p:cNvPr>
          <p:cNvGrpSpPr/>
          <p:nvPr/>
        </p:nvGrpSpPr>
        <p:grpSpPr>
          <a:xfrm>
            <a:off x="935088" y="2207836"/>
            <a:ext cx="16230600" cy="7256144"/>
            <a:chOff x="0" y="0"/>
            <a:chExt cx="4274726" cy="1718953"/>
          </a:xfrm>
        </p:grpSpPr>
        <p:sp>
          <p:nvSpPr>
            <p:cNvPr id="3" name="Freeform 3">
              <a:extLst>
                <a:ext uri="{FF2B5EF4-FFF2-40B4-BE49-F238E27FC236}">
                  <a16:creationId xmlns:a16="http://schemas.microsoft.com/office/drawing/2014/main" id="{258E5EE3-72B9-86BF-4C68-4866C8EFF88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FCF3D7DE-E855-EDE5-E3F8-F0DD087727F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4C93A6E-22D1-D6D0-7163-1BC7E332AE1D}"/>
              </a:ext>
            </a:extLst>
          </p:cNvPr>
          <p:cNvGrpSpPr/>
          <p:nvPr/>
        </p:nvGrpSpPr>
        <p:grpSpPr>
          <a:xfrm>
            <a:off x="4931532" y="462980"/>
            <a:ext cx="8424936" cy="1770212"/>
            <a:chOff x="0" y="0"/>
            <a:chExt cx="2109623" cy="306239"/>
          </a:xfrm>
        </p:grpSpPr>
        <p:sp>
          <p:nvSpPr>
            <p:cNvPr id="6" name="Freeform 6">
              <a:extLst>
                <a:ext uri="{FF2B5EF4-FFF2-40B4-BE49-F238E27FC236}">
                  <a16:creationId xmlns:a16="http://schemas.microsoft.com/office/drawing/2014/main" id="{A0947E4E-D0B4-AF4C-0588-64142115D586}"/>
                </a:ext>
              </a:extLst>
            </p:cNvPr>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08EF8321-BC8F-2025-F84E-90B1631F9D89}"/>
                </a:ext>
              </a:extLst>
            </p:cNvPr>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3AA5F529-DAD1-D567-DA55-A9859A730544}"/>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13">
            <a:extLst>
              <a:ext uri="{FF2B5EF4-FFF2-40B4-BE49-F238E27FC236}">
                <a16:creationId xmlns:a16="http://schemas.microsoft.com/office/drawing/2014/main" id="{C30DA46F-0C37-FD18-679E-EA106EF59313}"/>
              </a:ext>
            </a:extLst>
          </p:cNvPr>
          <p:cNvSpPr txBox="1"/>
          <p:nvPr/>
        </p:nvSpPr>
        <p:spPr>
          <a:xfrm>
            <a:off x="5355794" y="589000"/>
            <a:ext cx="7576409" cy="1534074"/>
          </a:xfrm>
          <a:prstGeom prst="rect">
            <a:avLst/>
          </a:prstGeom>
        </p:spPr>
        <p:txBody>
          <a:bodyPr lIns="0" tIns="0" rIns="0" bIns="0" rtlCol="0" anchor="t">
            <a:spAutoFit/>
          </a:bodyPr>
          <a:lstStyle/>
          <a:p>
            <a:pPr algn="ctr">
              <a:lnSpc>
                <a:spcPts val="6310"/>
              </a:lnSpc>
            </a:pPr>
            <a:r>
              <a:rPr lang="en-US" sz="4000" b="1" dirty="0">
                <a:solidFill>
                  <a:srgbClr val="000000"/>
                </a:solidFill>
                <a:latin typeface="Times New Roman" panose="02020603050405020304" pitchFamily="18" charset="0"/>
                <a:cs typeface="Times New Roman" panose="02020603050405020304" pitchFamily="18" charset="0"/>
              </a:rPr>
              <a:t>SOFTWARE &amp; HARDWARE REQUIREMENTS</a:t>
            </a:r>
          </a:p>
        </p:txBody>
      </p:sp>
      <p:sp>
        <p:nvSpPr>
          <p:cNvPr id="9" name="TextBox 8">
            <a:extLst>
              <a:ext uri="{FF2B5EF4-FFF2-40B4-BE49-F238E27FC236}">
                <a16:creationId xmlns:a16="http://schemas.microsoft.com/office/drawing/2014/main" id="{1DBD4CBF-A318-7AB4-ED26-403966C2B54B}"/>
              </a:ext>
            </a:extLst>
          </p:cNvPr>
          <p:cNvSpPr txBox="1"/>
          <p:nvPr/>
        </p:nvSpPr>
        <p:spPr>
          <a:xfrm>
            <a:off x="2403466" y="2649867"/>
            <a:ext cx="5904656" cy="3770263"/>
          </a:xfrm>
          <a:prstGeom prst="rect">
            <a:avLst/>
          </a:prstGeom>
          <a:noFill/>
        </p:spPr>
        <p:txBody>
          <a:bodyPr wrap="square">
            <a:spAutoFit/>
          </a:bodyPr>
          <a:lstStyle/>
          <a:p>
            <a:pPr marL="12700">
              <a:lnSpc>
                <a:spcPct val="100000"/>
              </a:lnSpc>
              <a:spcBef>
                <a:spcPts val="110"/>
              </a:spcBef>
            </a:pPr>
            <a:r>
              <a:rPr lang="en-IN" sz="3200" b="1" spc="-20" dirty="0">
                <a:latin typeface="Times New Roman" panose="02020603050405020304" pitchFamily="18" charset="0"/>
                <a:cs typeface="Times New Roman" panose="02020603050405020304" pitchFamily="18" charset="0"/>
              </a:rPr>
              <a:t>SOFTWARE</a:t>
            </a:r>
            <a:r>
              <a:rPr lang="en-IN" sz="3200" b="1" spc="-7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REQUIRMENTS</a:t>
            </a:r>
          </a:p>
          <a:p>
            <a:pPr marL="12700">
              <a:lnSpc>
                <a:spcPct val="100000"/>
              </a:lnSpc>
              <a:spcBef>
                <a:spcPts val="110"/>
              </a:spcBef>
            </a:pPr>
            <a:r>
              <a:rPr lang="en-IN" sz="2400" b="1" spc="-7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285750" lvl="0" indent="-28575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 Python 3.7.6</a:t>
            </a:r>
          </a:p>
          <a:p>
            <a:pPr marL="285750" lvl="0" indent="-28575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Operating System            : Windows</a:t>
            </a:r>
          </a:p>
          <a:p>
            <a:pPr marL="285750" lvl="0" indent="-28575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Framework                      : Django</a:t>
            </a:r>
          </a:p>
          <a:p>
            <a:pPr marL="12700">
              <a:lnSpc>
                <a:spcPct val="100000"/>
              </a:lnSpc>
              <a:spcBef>
                <a:spcPts val="1745"/>
              </a:spcBef>
              <a:buClr>
                <a:srgbClr val="5ECAEF"/>
              </a:buClr>
              <a:buSzPct val="47000"/>
              <a:tabLst>
                <a:tab pos="295910" algn="l"/>
              </a:tabLst>
            </a:pPr>
            <a:r>
              <a:rPr lang="en-IN" sz="2400" dirty="0"/>
              <a:t> </a:t>
            </a:r>
          </a:p>
        </p:txBody>
      </p:sp>
      <p:sp>
        <p:nvSpPr>
          <p:cNvPr id="14" name="TextBox 13">
            <a:extLst>
              <a:ext uri="{FF2B5EF4-FFF2-40B4-BE49-F238E27FC236}">
                <a16:creationId xmlns:a16="http://schemas.microsoft.com/office/drawing/2014/main" id="{00038614-68D8-A10A-9A52-BE6A024F3AAA}"/>
              </a:ext>
            </a:extLst>
          </p:cNvPr>
          <p:cNvSpPr txBox="1"/>
          <p:nvPr/>
        </p:nvSpPr>
        <p:spPr>
          <a:xfrm>
            <a:off x="2385270" y="5359524"/>
            <a:ext cx="6365902" cy="3673121"/>
          </a:xfrm>
          <a:prstGeom prst="rect">
            <a:avLst/>
          </a:prstGeom>
          <a:noFill/>
        </p:spPr>
        <p:txBody>
          <a:bodyPr wrap="square">
            <a:spAutoFit/>
          </a:bodyPr>
          <a:lstStyle/>
          <a:p>
            <a:pPr marL="12700">
              <a:lnSpc>
                <a:spcPct val="300000"/>
              </a:lnSpc>
              <a:spcBef>
                <a:spcPts val="1745"/>
              </a:spcBef>
              <a:buClr>
                <a:srgbClr val="5ECAEF"/>
              </a:buClr>
              <a:buSzPct val="47000"/>
              <a:tabLst>
                <a:tab pos="295910" algn="l"/>
              </a:tabLst>
            </a:pPr>
            <a:r>
              <a:rPr lang="en-IN" sz="3200" b="1" spc="-10" dirty="0">
                <a:latin typeface="Times New Roman" panose="02020603050405020304" pitchFamily="18" charset="0"/>
                <a:cs typeface="Times New Roman" panose="02020603050405020304" pitchFamily="18" charset="0"/>
              </a:rPr>
              <a:t>HARDWARE</a:t>
            </a:r>
            <a:r>
              <a:rPr lang="en-IN" sz="3200" b="1" spc="-75"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REQUIRMENTS</a:t>
            </a:r>
            <a:r>
              <a:rPr lang="en-IN" sz="3200" b="1" spc="-85" dirty="0">
                <a:latin typeface="Times New Roman" panose="02020603050405020304" pitchFamily="18" charset="0"/>
                <a:cs typeface="Times New Roman" panose="02020603050405020304" pitchFamily="18" charset="0"/>
              </a:rPr>
              <a:t> </a:t>
            </a:r>
          </a:p>
          <a:p>
            <a:pPr marL="342900" lvl="0" indent="-34290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 intel i3 or above</a:t>
            </a:r>
          </a:p>
          <a:p>
            <a:pPr marL="285750" lvl="0" indent="-28575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Hard Disk                       : 1TB </a:t>
            </a:r>
          </a:p>
          <a:p>
            <a:pPr marL="285750" lvl="0" indent="-285750">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 4 GB</a:t>
            </a:r>
          </a:p>
        </p:txBody>
      </p:sp>
      <p:pic>
        <p:nvPicPr>
          <p:cNvPr id="15" name="Picture 14">
            <a:extLst>
              <a:ext uri="{FF2B5EF4-FFF2-40B4-BE49-F238E27FC236}">
                <a16:creationId xmlns:a16="http://schemas.microsoft.com/office/drawing/2014/main" id="{DD396B54-61C4-B38B-18E5-96656E43FCFF}"/>
              </a:ext>
            </a:extLst>
          </p:cNvPr>
          <p:cNvPicPr>
            <a:picLocks noChangeAspect="1"/>
          </p:cNvPicPr>
          <p:nvPr/>
        </p:nvPicPr>
        <p:blipFill>
          <a:blip r:embed="rId4"/>
          <a:stretch>
            <a:fillRect/>
          </a:stretch>
        </p:blipFill>
        <p:spPr>
          <a:xfrm>
            <a:off x="15180384" y="256185"/>
            <a:ext cx="2078916" cy="1731414"/>
          </a:xfrm>
          <a:prstGeom prst="rect">
            <a:avLst/>
          </a:prstGeom>
        </p:spPr>
      </p:pic>
    </p:spTree>
    <p:extLst>
      <p:ext uri="{BB962C8B-B14F-4D97-AF65-F5344CB8AC3E}">
        <p14:creationId xmlns:p14="http://schemas.microsoft.com/office/powerpoint/2010/main" val="149869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3D8AD-677A-44C8-C49C-C6E22BDE85B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1802C3-C43C-81F3-2A4A-988F3CECCD33}"/>
              </a:ext>
            </a:extLst>
          </p:cNvPr>
          <p:cNvGrpSpPr/>
          <p:nvPr/>
        </p:nvGrpSpPr>
        <p:grpSpPr>
          <a:xfrm>
            <a:off x="1367135" y="2207594"/>
            <a:ext cx="15697745" cy="7364671"/>
            <a:chOff x="0" y="0"/>
            <a:chExt cx="4274726" cy="1718953"/>
          </a:xfrm>
        </p:grpSpPr>
        <p:sp>
          <p:nvSpPr>
            <p:cNvPr id="3" name="Freeform 3">
              <a:extLst>
                <a:ext uri="{FF2B5EF4-FFF2-40B4-BE49-F238E27FC236}">
                  <a16:creationId xmlns:a16="http://schemas.microsoft.com/office/drawing/2014/main" id="{25DE080C-9998-2C98-BC9B-16BA46D31E2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D14AAA82-8B82-2893-F8A0-7F21D61125D4}"/>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CBF6EF9-F069-E712-88F5-A358E8CE6216}"/>
              </a:ext>
            </a:extLst>
          </p:cNvPr>
          <p:cNvGrpSpPr/>
          <p:nvPr/>
        </p:nvGrpSpPr>
        <p:grpSpPr>
          <a:xfrm>
            <a:off x="5471592" y="714735"/>
            <a:ext cx="7560839" cy="1492859"/>
            <a:chOff x="0" y="0"/>
            <a:chExt cx="2109623" cy="400405"/>
          </a:xfrm>
        </p:grpSpPr>
        <p:sp>
          <p:nvSpPr>
            <p:cNvPr id="6" name="Freeform 6">
              <a:extLst>
                <a:ext uri="{FF2B5EF4-FFF2-40B4-BE49-F238E27FC236}">
                  <a16:creationId xmlns:a16="http://schemas.microsoft.com/office/drawing/2014/main" id="{BEB6324E-1B6A-6638-1630-5DD4BB76EAA9}"/>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E1D78E14-A206-924B-B865-FB6BAAA4EB83}"/>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C9D62075-FCA0-020F-23C2-D3AD800D1CF2}"/>
              </a:ext>
            </a:extLst>
          </p:cNvPr>
          <p:cNvSpPr txBox="1"/>
          <p:nvPr/>
        </p:nvSpPr>
        <p:spPr>
          <a:xfrm>
            <a:off x="4359584" y="772941"/>
            <a:ext cx="9784854" cy="1014701"/>
          </a:xfrm>
          <a:prstGeom prst="rect">
            <a:avLst/>
          </a:prstGeom>
        </p:spPr>
        <p:txBody>
          <a:bodyPr wrap="square" lIns="0" tIns="0" rIns="0" bIns="0" rtlCol="0" anchor="t">
            <a:spAutoFit/>
          </a:bodyPr>
          <a:lstStyle/>
          <a:p>
            <a:pPr algn="ctr">
              <a:lnSpc>
                <a:spcPts val="9250"/>
              </a:lnSpc>
            </a:pPr>
            <a:r>
              <a:rPr lang="en-US" sz="4000" b="1" dirty="0">
                <a:solidFill>
                  <a:srgbClr val="000000"/>
                </a:solidFill>
                <a:latin typeface="Times New Roman" panose="02020603050405020304" pitchFamily="18" charset="0"/>
                <a:cs typeface="Times New Roman" panose="02020603050405020304" pitchFamily="18" charset="0"/>
              </a:rPr>
              <a:t>NOVELTY OF THE PROJECT</a:t>
            </a:r>
          </a:p>
        </p:txBody>
      </p:sp>
      <p:pic>
        <p:nvPicPr>
          <p:cNvPr id="8" name="Picture 7">
            <a:extLst>
              <a:ext uri="{FF2B5EF4-FFF2-40B4-BE49-F238E27FC236}">
                <a16:creationId xmlns:a16="http://schemas.microsoft.com/office/drawing/2014/main" id="{A50A19E0-827C-816E-99EB-533B40BA8069}"/>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10" name="Picture 9">
            <a:extLst>
              <a:ext uri="{FF2B5EF4-FFF2-40B4-BE49-F238E27FC236}">
                <a16:creationId xmlns:a16="http://schemas.microsoft.com/office/drawing/2014/main" id="{265F9920-87F8-1668-EB31-2B9B7625C62B}"/>
              </a:ext>
            </a:extLst>
          </p:cNvPr>
          <p:cNvPicPr>
            <a:picLocks noChangeAspect="1"/>
          </p:cNvPicPr>
          <p:nvPr/>
        </p:nvPicPr>
        <p:blipFill>
          <a:blip r:embed="rId3"/>
          <a:stretch>
            <a:fillRect/>
          </a:stretch>
        </p:blipFill>
        <p:spPr>
          <a:xfrm>
            <a:off x="15204797" y="312945"/>
            <a:ext cx="2078916" cy="1731414"/>
          </a:xfrm>
          <a:prstGeom prst="rect">
            <a:avLst/>
          </a:prstGeom>
        </p:spPr>
      </p:pic>
      <p:sp>
        <p:nvSpPr>
          <p:cNvPr id="13" name="TextBox 12">
            <a:extLst>
              <a:ext uri="{FF2B5EF4-FFF2-40B4-BE49-F238E27FC236}">
                <a16:creationId xmlns:a16="http://schemas.microsoft.com/office/drawing/2014/main" id="{F574ED7A-ABAA-7986-6DFD-BA0C2B19A19B}"/>
              </a:ext>
            </a:extLst>
          </p:cNvPr>
          <p:cNvSpPr txBox="1"/>
          <p:nvPr/>
        </p:nvSpPr>
        <p:spPr>
          <a:xfrm>
            <a:off x="2519264" y="3263031"/>
            <a:ext cx="13321480" cy="3673121"/>
          </a:xfrm>
          <a:prstGeom prst="rect">
            <a:avLst/>
          </a:prstGeom>
          <a:noFill/>
        </p:spPr>
        <p:txBody>
          <a:bodyPr wrap="square">
            <a:spAutoFit/>
          </a:bodyPr>
          <a:lstStyle/>
          <a:p>
            <a:pPr algn="just">
              <a:lnSpc>
                <a:spcPct val="200000"/>
              </a:lnSpc>
            </a:pPr>
            <a:r>
              <a:rPr lang="en-US" sz="2400" dirty="0">
                <a:latin typeface="Times New Roman" panose="02020603050405020304" pitchFamily="18" charset="0"/>
                <a:cs typeface="Times New Roman" panose="02020603050405020304" pitchFamily="18" charset="0"/>
              </a:rPr>
              <a:t>The novelty of this project lies in combining AI-based fraud detection, IPFS-based decentralized document storage, and blockchain-based immutable transaction recording into a single real-time land transaction system. This project predicts fraud before approval, ensures transparency, eliminates data tampering, and provides a hybrid AI-human decision framework, making it more secure, scalable, and reliable than existing land registry systems.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361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6B579-B33A-5397-93BB-D9061A9BEE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BDEC8A-2DD4-CDC4-120A-D5981A529AB1}"/>
              </a:ext>
            </a:extLst>
          </p:cNvPr>
          <p:cNvGrpSpPr/>
          <p:nvPr/>
        </p:nvGrpSpPr>
        <p:grpSpPr>
          <a:xfrm>
            <a:off x="1053113" y="2207594"/>
            <a:ext cx="16230600" cy="7364671"/>
            <a:chOff x="0" y="0"/>
            <a:chExt cx="4274726" cy="1718953"/>
          </a:xfrm>
        </p:grpSpPr>
        <p:sp>
          <p:nvSpPr>
            <p:cNvPr id="3" name="Freeform 3">
              <a:extLst>
                <a:ext uri="{FF2B5EF4-FFF2-40B4-BE49-F238E27FC236}">
                  <a16:creationId xmlns:a16="http://schemas.microsoft.com/office/drawing/2014/main" id="{A548FA98-AA5C-5E6D-5090-294C96CDBD6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674F28F7-7DAB-0271-9C57-F233A63ADF65}"/>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0C8AEF2-193B-3053-CC81-25F256E4E57C}"/>
              </a:ext>
            </a:extLst>
          </p:cNvPr>
          <p:cNvGrpSpPr/>
          <p:nvPr/>
        </p:nvGrpSpPr>
        <p:grpSpPr>
          <a:xfrm>
            <a:off x="5327576" y="805328"/>
            <a:ext cx="7848872" cy="1402266"/>
            <a:chOff x="0" y="0"/>
            <a:chExt cx="2109623" cy="400405"/>
          </a:xfrm>
        </p:grpSpPr>
        <p:sp>
          <p:nvSpPr>
            <p:cNvPr id="6" name="Freeform 6">
              <a:extLst>
                <a:ext uri="{FF2B5EF4-FFF2-40B4-BE49-F238E27FC236}">
                  <a16:creationId xmlns:a16="http://schemas.microsoft.com/office/drawing/2014/main" id="{86F4FE64-02AC-9DF3-846A-CC0DAFE243C0}"/>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15C908D5-B3A7-ADDF-18FD-AE72B2AD1953}"/>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0A4E3099-7627-0305-759F-A0D1E8556455}"/>
              </a:ext>
            </a:extLst>
          </p:cNvPr>
          <p:cNvSpPr txBox="1"/>
          <p:nvPr/>
        </p:nvSpPr>
        <p:spPr>
          <a:xfrm>
            <a:off x="4389787" y="805328"/>
            <a:ext cx="9784854" cy="1014701"/>
          </a:xfrm>
          <a:prstGeom prst="rect">
            <a:avLst/>
          </a:prstGeom>
        </p:spPr>
        <p:txBody>
          <a:bodyPr wrap="square" lIns="0" tIns="0" rIns="0" bIns="0" rtlCol="0" anchor="t">
            <a:spAutoFit/>
          </a:bodyPr>
          <a:lstStyle/>
          <a:p>
            <a:pPr algn="ctr">
              <a:lnSpc>
                <a:spcPts val="9250"/>
              </a:lnSpc>
            </a:pPr>
            <a:r>
              <a:rPr lang="en-US" sz="4000" b="1" dirty="0">
                <a:solidFill>
                  <a:srgbClr val="000000"/>
                </a:solidFill>
                <a:latin typeface="Times New Roman" panose="02020603050405020304" pitchFamily="18" charset="0"/>
                <a:cs typeface="Times New Roman" panose="02020603050405020304" pitchFamily="18" charset="0"/>
              </a:rPr>
              <a:t>SYSTEM ARCHITECTURE</a:t>
            </a:r>
          </a:p>
        </p:txBody>
      </p:sp>
      <p:pic>
        <p:nvPicPr>
          <p:cNvPr id="8" name="Picture 7">
            <a:extLst>
              <a:ext uri="{FF2B5EF4-FFF2-40B4-BE49-F238E27FC236}">
                <a16:creationId xmlns:a16="http://schemas.microsoft.com/office/drawing/2014/main" id="{30E4DA25-C254-1C1D-94ED-4E8B07EB7C45}"/>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9" name="Picture 8">
            <a:extLst>
              <a:ext uri="{FF2B5EF4-FFF2-40B4-BE49-F238E27FC236}">
                <a16:creationId xmlns:a16="http://schemas.microsoft.com/office/drawing/2014/main" id="{89A3F101-AE28-7280-D603-A02F7C5D21B7}"/>
              </a:ext>
            </a:extLst>
          </p:cNvPr>
          <p:cNvPicPr>
            <a:picLocks noChangeAspect="1"/>
          </p:cNvPicPr>
          <p:nvPr/>
        </p:nvPicPr>
        <p:blipFill>
          <a:blip r:embed="rId3"/>
          <a:stretch>
            <a:fillRect/>
          </a:stretch>
        </p:blipFill>
        <p:spPr>
          <a:xfrm>
            <a:off x="3053522" y="2521461"/>
            <a:ext cx="12457384" cy="6654487"/>
          </a:xfrm>
          <a:prstGeom prst="rect">
            <a:avLst/>
          </a:prstGeom>
        </p:spPr>
      </p:pic>
      <p:pic>
        <p:nvPicPr>
          <p:cNvPr id="10" name="Picture 9">
            <a:extLst>
              <a:ext uri="{FF2B5EF4-FFF2-40B4-BE49-F238E27FC236}">
                <a16:creationId xmlns:a16="http://schemas.microsoft.com/office/drawing/2014/main" id="{3C08FB86-13B8-AFD4-9A6B-8F6EC249DD1D}"/>
              </a:ext>
            </a:extLst>
          </p:cNvPr>
          <p:cNvPicPr>
            <a:picLocks noChangeAspect="1"/>
          </p:cNvPicPr>
          <p:nvPr/>
        </p:nvPicPr>
        <p:blipFill>
          <a:blip r:embed="rId4"/>
          <a:stretch>
            <a:fillRect/>
          </a:stretch>
        </p:blipFill>
        <p:spPr>
          <a:xfrm>
            <a:off x="15204797" y="312945"/>
            <a:ext cx="2078916" cy="1731414"/>
          </a:xfrm>
          <a:prstGeom prst="rect">
            <a:avLst/>
          </a:prstGeom>
        </p:spPr>
      </p:pic>
    </p:spTree>
    <p:extLst>
      <p:ext uri="{BB962C8B-B14F-4D97-AF65-F5344CB8AC3E}">
        <p14:creationId xmlns:p14="http://schemas.microsoft.com/office/powerpoint/2010/main" val="719456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DBC5-E160-D36D-6186-BD465E799E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F3F35A3-8328-49ED-6D96-66EBA8E2C46C}"/>
              </a:ext>
            </a:extLst>
          </p:cNvPr>
          <p:cNvGrpSpPr/>
          <p:nvPr/>
        </p:nvGrpSpPr>
        <p:grpSpPr>
          <a:xfrm>
            <a:off x="1056542" y="2263180"/>
            <a:ext cx="16230600" cy="6526651"/>
            <a:chOff x="0" y="0"/>
            <a:chExt cx="4274726" cy="1718953"/>
          </a:xfrm>
        </p:grpSpPr>
        <p:sp>
          <p:nvSpPr>
            <p:cNvPr id="3" name="Freeform 3">
              <a:extLst>
                <a:ext uri="{FF2B5EF4-FFF2-40B4-BE49-F238E27FC236}">
                  <a16:creationId xmlns:a16="http://schemas.microsoft.com/office/drawing/2014/main" id="{3B27C3DE-D7A6-B069-7FE4-08946A69818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E192AC85-F1AE-413B-4BED-5219B2A616E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A77454C-6B16-9480-194F-9D6D7AE366F0}"/>
              </a:ext>
            </a:extLst>
          </p:cNvPr>
          <p:cNvGrpSpPr/>
          <p:nvPr/>
        </p:nvGrpSpPr>
        <p:grpSpPr>
          <a:xfrm>
            <a:off x="6767735" y="1100428"/>
            <a:ext cx="4752529" cy="1162752"/>
            <a:chOff x="0" y="0"/>
            <a:chExt cx="2109623" cy="306239"/>
          </a:xfrm>
        </p:grpSpPr>
        <p:sp>
          <p:nvSpPr>
            <p:cNvPr id="6" name="Freeform 6">
              <a:extLst>
                <a:ext uri="{FF2B5EF4-FFF2-40B4-BE49-F238E27FC236}">
                  <a16:creationId xmlns:a16="http://schemas.microsoft.com/office/drawing/2014/main" id="{37127D06-DAE2-31DE-EE3E-2F5FB585E224}"/>
                </a:ext>
              </a:extLst>
            </p:cNvPr>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10A35016-72DC-B795-22BA-07736D161D93}"/>
                </a:ext>
              </a:extLst>
            </p:cNvPr>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69FB13B0-9F1F-75EC-D123-3DE78035AC63}"/>
              </a:ext>
            </a:extLst>
          </p:cNvPr>
          <p:cNvSpPr txBox="1"/>
          <p:nvPr/>
        </p:nvSpPr>
        <p:spPr>
          <a:xfrm>
            <a:off x="1511150" y="2767236"/>
            <a:ext cx="15265696" cy="4457952"/>
          </a:xfrm>
          <a:prstGeom prst="rect">
            <a:avLst/>
          </a:prstGeom>
        </p:spPr>
        <p:txBody>
          <a:bodyPr wrap="square" lIns="0" tIns="0" rIns="0" bIns="0" rtlCol="0" anchor="t">
            <a:spAutoFit/>
          </a:bodyPr>
          <a:lstStyle/>
          <a:p>
            <a:pPr marL="285750" lvl="0" indent="-285750" algn="just">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1.Decentralized Layer Module</a:t>
            </a:r>
          </a:p>
          <a:p>
            <a:pPr marL="285750" lvl="0" indent="-285750" algn="just">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2.Web &amp; Service Layer Module</a:t>
            </a:r>
          </a:p>
          <a:p>
            <a:pPr marL="285750" lvl="0" indent="-285750" algn="just">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3.Clients Module</a:t>
            </a:r>
          </a:p>
          <a:p>
            <a:pPr marL="285750" lvl="0" indent="-285750" algn="just">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4.ML Inference Service Module</a:t>
            </a:r>
          </a:p>
          <a:p>
            <a:pPr marL="285750" lvl="0" indent="-285750" algn="just">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5.Training &amp; Analytics Module</a:t>
            </a:r>
          </a:p>
        </p:txBody>
      </p:sp>
      <p:sp>
        <p:nvSpPr>
          <p:cNvPr id="12" name="Freeform 12">
            <a:extLst>
              <a:ext uri="{FF2B5EF4-FFF2-40B4-BE49-F238E27FC236}">
                <a16:creationId xmlns:a16="http://schemas.microsoft.com/office/drawing/2014/main" id="{F5749BB9-141D-8B9B-076A-8F8B0BF96D41}"/>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13">
            <a:extLst>
              <a:ext uri="{FF2B5EF4-FFF2-40B4-BE49-F238E27FC236}">
                <a16:creationId xmlns:a16="http://schemas.microsoft.com/office/drawing/2014/main" id="{EAB0A41A-50AD-0919-6CEC-A137F9B7A05F}"/>
              </a:ext>
            </a:extLst>
          </p:cNvPr>
          <p:cNvSpPr txBox="1"/>
          <p:nvPr/>
        </p:nvSpPr>
        <p:spPr>
          <a:xfrm>
            <a:off x="5355794" y="1245787"/>
            <a:ext cx="7576409" cy="774251"/>
          </a:xfrm>
          <a:prstGeom prst="rect">
            <a:avLst/>
          </a:prstGeom>
        </p:spPr>
        <p:txBody>
          <a:bodyPr lIns="0" tIns="0" rIns="0" bIns="0" rtlCol="0" anchor="t">
            <a:spAutoFit/>
          </a:bodyPr>
          <a:lstStyle/>
          <a:p>
            <a:pPr algn="ctr">
              <a:lnSpc>
                <a:spcPts val="6788"/>
              </a:lnSpc>
            </a:pPr>
            <a:r>
              <a:rPr lang="en-US" sz="4000" b="1" dirty="0">
                <a:solidFill>
                  <a:srgbClr val="000000"/>
                </a:solidFill>
                <a:latin typeface="Times New Roman" panose="02020603050405020304" pitchFamily="18" charset="0"/>
                <a:cs typeface="Times New Roman" panose="02020603050405020304" pitchFamily="18" charset="0"/>
              </a:rPr>
              <a:t>MODULES</a:t>
            </a:r>
          </a:p>
        </p:txBody>
      </p:sp>
      <p:pic>
        <p:nvPicPr>
          <p:cNvPr id="8" name="Picture 7">
            <a:extLst>
              <a:ext uri="{FF2B5EF4-FFF2-40B4-BE49-F238E27FC236}">
                <a16:creationId xmlns:a16="http://schemas.microsoft.com/office/drawing/2014/main" id="{268FB480-6015-FC9F-A6BD-22F4525D9CB2}"/>
              </a:ext>
            </a:extLst>
          </p:cNvPr>
          <p:cNvPicPr>
            <a:picLocks noChangeAspect="1"/>
          </p:cNvPicPr>
          <p:nvPr/>
        </p:nvPicPr>
        <p:blipFill>
          <a:blip r:embed="rId4"/>
          <a:stretch>
            <a:fillRect/>
          </a:stretch>
        </p:blipFill>
        <p:spPr>
          <a:xfrm>
            <a:off x="15208226" y="314775"/>
            <a:ext cx="2078916" cy="1731414"/>
          </a:xfrm>
          <a:prstGeom prst="rect">
            <a:avLst/>
          </a:prstGeom>
        </p:spPr>
      </p:pic>
    </p:spTree>
    <p:extLst>
      <p:ext uri="{BB962C8B-B14F-4D97-AF65-F5344CB8AC3E}">
        <p14:creationId xmlns:p14="http://schemas.microsoft.com/office/powerpoint/2010/main" val="11793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294C-149C-17CA-5F5F-DDF065E238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C76719-5F4B-6063-B220-81441246859A}"/>
              </a:ext>
            </a:extLst>
          </p:cNvPr>
          <p:cNvGrpSpPr/>
          <p:nvPr/>
        </p:nvGrpSpPr>
        <p:grpSpPr>
          <a:xfrm>
            <a:off x="1006258" y="2269724"/>
            <a:ext cx="16230600" cy="6526651"/>
            <a:chOff x="0" y="0"/>
            <a:chExt cx="4274726" cy="1718953"/>
          </a:xfrm>
        </p:grpSpPr>
        <p:sp>
          <p:nvSpPr>
            <p:cNvPr id="3" name="Freeform 3">
              <a:extLst>
                <a:ext uri="{FF2B5EF4-FFF2-40B4-BE49-F238E27FC236}">
                  <a16:creationId xmlns:a16="http://schemas.microsoft.com/office/drawing/2014/main" id="{9D707499-278F-9897-F7F6-490ED6D6FFA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848D8139-3B35-C2F6-1285-FD58229C6A1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C07A933A-E7FC-A58F-9586-71CDAB0C68F5}"/>
              </a:ext>
            </a:extLst>
          </p:cNvPr>
          <p:cNvSpPr txBox="1"/>
          <p:nvPr/>
        </p:nvSpPr>
        <p:spPr>
          <a:xfrm>
            <a:off x="1706269" y="3844805"/>
            <a:ext cx="15265696" cy="4457952"/>
          </a:xfrm>
          <a:prstGeom prst="rect">
            <a:avLst/>
          </a:prstGeom>
        </p:spPr>
        <p:txBody>
          <a:bodyPr wrap="square" lIns="0" tIns="0" rIns="0" bIns="0" rtlCol="0" anchor="t">
            <a:spAutoFit/>
          </a:bodyPr>
          <a:lstStyle/>
          <a:p>
            <a:pPr lvl="0" algn="just"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Integrates Blockchain (Ethereum) and IPFS for secure, tamper-proof storage of land records.</a:t>
            </a:r>
          </a:p>
          <a:p>
            <a:pPr lvl="0" algn="just"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Smart Contracts record ownership, transaction history, and verification data on-chain.</a:t>
            </a:r>
          </a:p>
          <a:p>
            <a:pPr lvl="0" algn="just"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IPFS stores encrypted documents and returns a unique Content Identifier (CID) for reference.</a:t>
            </a:r>
          </a:p>
          <a:p>
            <a:pPr lvl="0" algn="just"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Ensures data immutability, transparency, and non-repudiation of land transactions.</a:t>
            </a:r>
          </a:p>
          <a:p>
            <a:pPr lvl="0" algn="just" eaLnBrk="0" fontAlgn="base" hangingPunct="0">
              <a:lnSpc>
                <a:spcPct val="250000"/>
              </a:lnSpc>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p:txBody>
      </p:sp>
      <p:sp>
        <p:nvSpPr>
          <p:cNvPr id="12" name="Freeform 12">
            <a:extLst>
              <a:ext uri="{FF2B5EF4-FFF2-40B4-BE49-F238E27FC236}">
                <a16:creationId xmlns:a16="http://schemas.microsoft.com/office/drawing/2014/main" id="{682DEC16-0341-2998-A30E-2B3641E5250B}"/>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EF908655-0FCC-1016-28F9-9684074C22A9}"/>
              </a:ext>
            </a:extLst>
          </p:cNvPr>
          <p:cNvSpPr txBox="1"/>
          <p:nvPr/>
        </p:nvSpPr>
        <p:spPr>
          <a:xfrm>
            <a:off x="1706269" y="2528656"/>
            <a:ext cx="9475838" cy="1684564"/>
          </a:xfrm>
          <a:prstGeom prst="rect">
            <a:avLst/>
          </a:prstGeom>
          <a:noFill/>
        </p:spPr>
        <p:txBody>
          <a:bodyPr wrap="square">
            <a:spAutoFit/>
          </a:bodyPr>
          <a:lstStyle/>
          <a:p>
            <a:pPr lvl="0" algn="just" eaLnBrk="0" fontAlgn="base" hangingPunct="0">
              <a:lnSpc>
                <a:spcPct val="200000"/>
              </a:lnSpc>
              <a:spcBef>
                <a:spcPct val="0"/>
              </a:spcBef>
              <a:spcAft>
                <a:spcPct val="0"/>
              </a:spcAft>
            </a:pPr>
            <a:r>
              <a:rPr lang="en-US" altLang="en-US" sz="2800" b="1" dirty="0">
                <a:latin typeface="Times New Roman" panose="02020603050405020304" pitchFamily="18" charset="0"/>
                <a:cs typeface="Times New Roman" panose="02020603050405020304" pitchFamily="18" charset="0"/>
              </a:rPr>
              <a:t>1. DECENTRALIZED LAYER MODULE</a:t>
            </a:r>
          </a:p>
          <a:p>
            <a:pPr lvl="0" algn="just" eaLnBrk="0" fontAlgn="base" hangingPunct="0">
              <a:lnSpc>
                <a:spcPct val="200000"/>
              </a:lnSpc>
              <a:spcBef>
                <a:spcPct val="0"/>
              </a:spcBef>
              <a:spcAft>
                <a:spcPct val="0"/>
              </a:spcAft>
            </a:pPr>
            <a:endParaRPr lang="en-US"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F68298C-247D-660D-880A-4F43B8C56231}"/>
              </a:ext>
            </a:extLst>
          </p:cNvPr>
          <p:cNvPicPr>
            <a:picLocks noChangeAspect="1"/>
          </p:cNvPicPr>
          <p:nvPr/>
        </p:nvPicPr>
        <p:blipFill>
          <a:blip r:embed="rId4"/>
          <a:stretch>
            <a:fillRect/>
          </a:stretch>
        </p:blipFill>
        <p:spPr>
          <a:xfrm>
            <a:off x="15170199" y="209391"/>
            <a:ext cx="2078916" cy="1731414"/>
          </a:xfrm>
          <a:prstGeom prst="rect">
            <a:avLst/>
          </a:prstGeom>
        </p:spPr>
      </p:pic>
    </p:spTree>
    <p:extLst>
      <p:ext uri="{BB962C8B-B14F-4D97-AF65-F5344CB8AC3E}">
        <p14:creationId xmlns:p14="http://schemas.microsoft.com/office/powerpoint/2010/main" val="292647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49C07-26ED-0E23-62F6-8CDD2172A5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C1CD8E-69F4-9525-AA84-57379D9CF132}"/>
              </a:ext>
            </a:extLst>
          </p:cNvPr>
          <p:cNvGrpSpPr/>
          <p:nvPr/>
        </p:nvGrpSpPr>
        <p:grpSpPr>
          <a:xfrm>
            <a:off x="1028700" y="2269724"/>
            <a:ext cx="16230600" cy="6526651"/>
            <a:chOff x="0" y="0"/>
            <a:chExt cx="4274726" cy="1718953"/>
          </a:xfrm>
        </p:grpSpPr>
        <p:sp>
          <p:nvSpPr>
            <p:cNvPr id="3" name="Freeform 3">
              <a:extLst>
                <a:ext uri="{FF2B5EF4-FFF2-40B4-BE49-F238E27FC236}">
                  <a16:creationId xmlns:a16="http://schemas.microsoft.com/office/drawing/2014/main" id="{E04ABB5A-8F24-49D6-63A8-162085AC0C9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E4C3CF0E-6934-1B89-5BC2-4349F6CC972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0DE9CA04-BEDA-F9AA-982F-6C0C7DDF2577}"/>
              </a:ext>
            </a:extLst>
          </p:cNvPr>
          <p:cNvSpPr txBox="1"/>
          <p:nvPr/>
        </p:nvSpPr>
        <p:spPr>
          <a:xfrm>
            <a:off x="1727176" y="3847356"/>
            <a:ext cx="15265696" cy="3534622"/>
          </a:xfrm>
          <a:prstGeom prst="rect">
            <a:avLst/>
          </a:prstGeom>
        </p:spPr>
        <p:txBody>
          <a:bodyPr wrap="square" lIns="0" tIns="0" rIns="0" bIns="0" rtlCol="0" anchor="t">
            <a:spAutoFit/>
          </a:bodyPr>
          <a:lstStyle/>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Handles user authentication, document upload, and transaction management through a web interface.</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Connects with IPFS to store files and with Ethereum to register CIDs via smart contracts.</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Communicates with ML Inference Service to check fraud probability before approval.</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Maintains database  for user data, transaction logs, and audit records.</a:t>
            </a:r>
          </a:p>
        </p:txBody>
      </p:sp>
      <p:sp>
        <p:nvSpPr>
          <p:cNvPr id="12" name="Freeform 12">
            <a:extLst>
              <a:ext uri="{FF2B5EF4-FFF2-40B4-BE49-F238E27FC236}">
                <a16:creationId xmlns:a16="http://schemas.microsoft.com/office/drawing/2014/main" id="{D608F727-047E-040C-045E-6C7EE4755404}"/>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F403220F-F19C-DF49-0F8D-005026F0459F}"/>
              </a:ext>
            </a:extLst>
          </p:cNvPr>
          <p:cNvSpPr txBox="1"/>
          <p:nvPr/>
        </p:nvSpPr>
        <p:spPr>
          <a:xfrm>
            <a:off x="1727176" y="2628558"/>
            <a:ext cx="9475838" cy="1684564"/>
          </a:xfrm>
          <a:prstGeom prst="rect">
            <a:avLst/>
          </a:prstGeom>
          <a:noFill/>
        </p:spPr>
        <p:txBody>
          <a:bodyPr wrap="square">
            <a:spAutoFit/>
          </a:bodyPr>
          <a:lstStyle/>
          <a:p>
            <a:pPr algn="just" eaLnBrk="0" fontAlgn="base" hangingPunct="0">
              <a:lnSpc>
                <a:spcPct val="200000"/>
              </a:lnSpc>
              <a:spcBef>
                <a:spcPct val="0"/>
              </a:spcBef>
              <a:spcAft>
                <a:spcPct val="0"/>
              </a:spcAft>
            </a:pPr>
            <a:r>
              <a:rPr lang="en-US" altLang="en-US" sz="2800" b="1"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WEB &amp; SERVICE LAYER MODULE</a:t>
            </a:r>
          </a:p>
          <a:p>
            <a:pPr lvl="0" algn="just" eaLnBrk="0" fontAlgn="base" hangingPunct="0">
              <a:lnSpc>
                <a:spcPct val="200000"/>
              </a:lnSpc>
              <a:spcBef>
                <a:spcPct val="0"/>
              </a:spcBef>
              <a:spcAft>
                <a:spcPct val="0"/>
              </a:spcAft>
            </a:pPr>
            <a:endParaRPr lang="en-US"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CE919AB-0512-42E1-5365-D34D87DE5F83}"/>
              </a:ext>
            </a:extLst>
          </p:cNvPr>
          <p:cNvPicPr>
            <a:picLocks noChangeAspect="1"/>
          </p:cNvPicPr>
          <p:nvPr/>
        </p:nvPicPr>
        <p:blipFill>
          <a:blip r:embed="rId4"/>
          <a:stretch>
            <a:fillRect/>
          </a:stretch>
        </p:blipFill>
        <p:spPr>
          <a:xfrm>
            <a:off x="15180384" y="239499"/>
            <a:ext cx="2078916" cy="1731414"/>
          </a:xfrm>
          <a:prstGeom prst="rect">
            <a:avLst/>
          </a:prstGeom>
        </p:spPr>
      </p:pic>
    </p:spTree>
    <p:extLst>
      <p:ext uri="{BB962C8B-B14F-4D97-AF65-F5344CB8AC3E}">
        <p14:creationId xmlns:p14="http://schemas.microsoft.com/office/powerpoint/2010/main" val="2193654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175CA-D804-E4AB-BE61-E8ECE0B7A4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6ABF96B-49AB-613B-2EDD-6A1B542745F5}"/>
              </a:ext>
            </a:extLst>
          </p:cNvPr>
          <p:cNvGrpSpPr/>
          <p:nvPr/>
        </p:nvGrpSpPr>
        <p:grpSpPr>
          <a:xfrm>
            <a:off x="1028700" y="2269724"/>
            <a:ext cx="16230600" cy="6526651"/>
            <a:chOff x="0" y="0"/>
            <a:chExt cx="4274726" cy="1718953"/>
          </a:xfrm>
        </p:grpSpPr>
        <p:sp>
          <p:nvSpPr>
            <p:cNvPr id="3" name="Freeform 3">
              <a:extLst>
                <a:ext uri="{FF2B5EF4-FFF2-40B4-BE49-F238E27FC236}">
                  <a16:creationId xmlns:a16="http://schemas.microsoft.com/office/drawing/2014/main" id="{D28919F4-3855-E49A-1E97-D3D9A539EF6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33B23923-C37F-7618-3F9D-1B1091FF119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2B605103-8E44-F4FC-BFFA-B5F8AC3D17CB}"/>
              </a:ext>
            </a:extLst>
          </p:cNvPr>
          <p:cNvSpPr txBox="1"/>
          <p:nvPr/>
        </p:nvSpPr>
        <p:spPr>
          <a:xfrm>
            <a:off x="1727176" y="3765738"/>
            <a:ext cx="15265696" cy="3534622"/>
          </a:xfrm>
          <a:prstGeom prst="rect">
            <a:avLst/>
          </a:prstGeom>
        </p:spPr>
        <p:txBody>
          <a:bodyPr wrap="square" lIns="0" tIns="0" rIns="0" bIns="0" rtlCol="0" anchor="t">
            <a:spAutoFit/>
          </a:bodyPr>
          <a:lstStyle/>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Includes Buyer and Seller dashboards for interaction with the system.</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Allows users to upload, view, verify, and approve land documents securely.</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Displays ML fraud detection results and blockchain verification proofs.</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Provides an intuitive and responsive user interface for transparency and ease of use.</a:t>
            </a:r>
          </a:p>
        </p:txBody>
      </p:sp>
      <p:sp>
        <p:nvSpPr>
          <p:cNvPr id="12" name="Freeform 12">
            <a:extLst>
              <a:ext uri="{FF2B5EF4-FFF2-40B4-BE49-F238E27FC236}">
                <a16:creationId xmlns:a16="http://schemas.microsoft.com/office/drawing/2014/main" id="{EF7581B7-797B-0A9E-FEC8-40188EBDBE97}"/>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44EE1104-3C25-5421-FA85-3751B89B18FE}"/>
              </a:ext>
            </a:extLst>
          </p:cNvPr>
          <p:cNvSpPr txBox="1"/>
          <p:nvPr/>
        </p:nvSpPr>
        <p:spPr>
          <a:xfrm>
            <a:off x="1727176" y="2683150"/>
            <a:ext cx="9475838" cy="822789"/>
          </a:xfrm>
          <a:prstGeom prst="rect">
            <a:avLst/>
          </a:prstGeom>
          <a:noFill/>
        </p:spPr>
        <p:txBody>
          <a:bodyPr wrap="square">
            <a:spAutoFit/>
          </a:bodyPr>
          <a:lstStyle/>
          <a:p>
            <a:pPr algn="just" eaLnBrk="0" fontAlgn="base" hangingPunct="0">
              <a:lnSpc>
                <a:spcPct val="200000"/>
              </a:lnSpc>
              <a:spcBef>
                <a:spcPct val="0"/>
              </a:spcBef>
              <a:spcAft>
                <a:spcPct val="0"/>
              </a:spcAft>
            </a:pPr>
            <a:r>
              <a:rPr lang="en-IN" altLang="en-US" sz="2800" b="1" dirty="0">
                <a:latin typeface="Times New Roman" panose="02020603050405020304" pitchFamily="18" charset="0"/>
                <a:cs typeface="Times New Roman" panose="02020603050405020304" pitchFamily="18" charset="0"/>
              </a:rPr>
              <a:t>3. CLIENTS MODULE</a:t>
            </a:r>
            <a:endParaRPr lang="en-US"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C5126B-F4E0-8419-D68C-B574FE592880}"/>
              </a:ext>
            </a:extLst>
          </p:cNvPr>
          <p:cNvPicPr>
            <a:picLocks noChangeAspect="1"/>
          </p:cNvPicPr>
          <p:nvPr/>
        </p:nvPicPr>
        <p:blipFill>
          <a:blip r:embed="rId4"/>
          <a:stretch>
            <a:fillRect/>
          </a:stretch>
        </p:blipFill>
        <p:spPr>
          <a:xfrm>
            <a:off x="15180384" y="267581"/>
            <a:ext cx="2078916" cy="1731414"/>
          </a:xfrm>
          <a:prstGeom prst="rect">
            <a:avLst/>
          </a:prstGeom>
        </p:spPr>
      </p:pic>
    </p:spTree>
    <p:extLst>
      <p:ext uri="{BB962C8B-B14F-4D97-AF65-F5344CB8AC3E}">
        <p14:creationId xmlns:p14="http://schemas.microsoft.com/office/powerpoint/2010/main" val="1185414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E4FE4-2059-DF50-6724-56E0763078C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913D66-F609-0A93-8B1C-AF097503FA31}"/>
              </a:ext>
            </a:extLst>
          </p:cNvPr>
          <p:cNvGrpSpPr/>
          <p:nvPr/>
        </p:nvGrpSpPr>
        <p:grpSpPr>
          <a:xfrm>
            <a:off x="1028700" y="2269724"/>
            <a:ext cx="16230600" cy="6526651"/>
            <a:chOff x="0" y="0"/>
            <a:chExt cx="4274726" cy="1718953"/>
          </a:xfrm>
        </p:grpSpPr>
        <p:sp>
          <p:nvSpPr>
            <p:cNvPr id="3" name="Freeform 3">
              <a:extLst>
                <a:ext uri="{FF2B5EF4-FFF2-40B4-BE49-F238E27FC236}">
                  <a16:creationId xmlns:a16="http://schemas.microsoft.com/office/drawing/2014/main" id="{89A38CD6-5109-EA4C-2538-10AC94008E8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936890D2-C887-4EFD-6F63-E5D408EC027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C8C3F1A0-1B54-E922-B805-AD1FF837DF8B}"/>
              </a:ext>
            </a:extLst>
          </p:cNvPr>
          <p:cNvSpPr txBox="1"/>
          <p:nvPr/>
        </p:nvSpPr>
        <p:spPr>
          <a:xfrm>
            <a:off x="1727176" y="3693408"/>
            <a:ext cx="15265696" cy="3534622"/>
          </a:xfrm>
          <a:prstGeom prst="rect">
            <a:avLst/>
          </a:prstGeom>
        </p:spPr>
        <p:txBody>
          <a:bodyPr wrap="square" lIns="0" tIns="0" rIns="0" bIns="0" rtlCol="0" anchor="t">
            <a:spAutoFit/>
          </a:bodyPr>
          <a:lstStyle/>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Performs fraud detection and verification on transaction and document data.</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Uses trained machine learning models to predict fraudulent activities.</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Sends a fraud probability score and explanation back to the Web Layer.</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Ensures real-time, accurate, and explainable AI predictions using </a:t>
            </a:r>
            <a:r>
              <a:rPr lang="en-US" altLang="en-US" sz="2400" dirty="0" err="1">
                <a:latin typeface="Times New Roman" panose="02020603050405020304" pitchFamily="18" charset="0"/>
                <a:cs typeface="Times New Roman" panose="02020603050405020304" pitchFamily="18" charset="0"/>
              </a:rPr>
              <a:t>LightGBM</a:t>
            </a:r>
            <a:r>
              <a:rPr lang="en-US" altLang="en-US" sz="2400" dirty="0">
                <a:latin typeface="Times New Roman" panose="02020603050405020304" pitchFamily="18" charset="0"/>
                <a:cs typeface="Times New Roman" panose="02020603050405020304" pitchFamily="18" charset="0"/>
              </a:rPr>
              <a:t>/CNN models.</a:t>
            </a:r>
          </a:p>
        </p:txBody>
      </p:sp>
      <p:sp>
        <p:nvSpPr>
          <p:cNvPr id="12" name="Freeform 12">
            <a:extLst>
              <a:ext uri="{FF2B5EF4-FFF2-40B4-BE49-F238E27FC236}">
                <a16:creationId xmlns:a16="http://schemas.microsoft.com/office/drawing/2014/main" id="{53F1D850-2D0D-CFA2-44FE-C426E45EC328}"/>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53360B4E-F2DC-2DEB-A532-4D68F263AA28}"/>
              </a:ext>
            </a:extLst>
          </p:cNvPr>
          <p:cNvSpPr txBox="1"/>
          <p:nvPr/>
        </p:nvSpPr>
        <p:spPr>
          <a:xfrm>
            <a:off x="1727176" y="2628558"/>
            <a:ext cx="9475838" cy="1684564"/>
          </a:xfrm>
          <a:prstGeom prst="rect">
            <a:avLst/>
          </a:prstGeom>
          <a:noFill/>
        </p:spPr>
        <p:txBody>
          <a:bodyPr wrap="square">
            <a:spAutoFit/>
          </a:bodyPr>
          <a:lstStyle/>
          <a:p>
            <a:pPr algn="just" eaLnBrk="0" fontAlgn="base" hangingPunct="0">
              <a:lnSpc>
                <a:spcPct val="200000"/>
              </a:lnSpc>
              <a:spcBef>
                <a:spcPct val="0"/>
              </a:spcBef>
              <a:spcAft>
                <a:spcPct val="0"/>
              </a:spcAft>
            </a:pPr>
            <a:r>
              <a:rPr lang="en-IN" altLang="en-US" sz="2800" b="1" dirty="0">
                <a:latin typeface="Times New Roman" panose="02020603050405020304" pitchFamily="18" charset="0"/>
                <a:cs typeface="Times New Roman" panose="02020603050405020304" pitchFamily="18" charset="0"/>
              </a:rPr>
              <a:t>4.</a:t>
            </a:r>
            <a:r>
              <a:rPr lang="en-IN" sz="2800" b="1" dirty="0">
                <a:latin typeface="Times New Roman" panose="02020603050405020304" pitchFamily="18" charset="0"/>
                <a:cs typeface="Times New Roman" panose="02020603050405020304" pitchFamily="18" charset="0"/>
              </a:rPr>
              <a:t> ML INFERENCE SERVICE MODULE</a:t>
            </a:r>
          </a:p>
          <a:p>
            <a:pPr algn="just" eaLnBrk="0" fontAlgn="base" hangingPunct="0">
              <a:lnSpc>
                <a:spcPct val="200000"/>
              </a:lnSpc>
              <a:spcBef>
                <a:spcPct val="0"/>
              </a:spcBef>
              <a:spcAft>
                <a:spcPct val="0"/>
              </a:spcAft>
            </a:pPr>
            <a:endParaRPr lang="en-US"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478DB09-0BE1-FAEF-B27D-67DF283A2008}"/>
              </a:ext>
            </a:extLst>
          </p:cNvPr>
          <p:cNvPicPr>
            <a:picLocks noChangeAspect="1"/>
          </p:cNvPicPr>
          <p:nvPr/>
        </p:nvPicPr>
        <p:blipFill>
          <a:blip r:embed="rId4"/>
          <a:stretch>
            <a:fillRect/>
          </a:stretch>
        </p:blipFill>
        <p:spPr>
          <a:xfrm>
            <a:off x="15180384" y="218659"/>
            <a:ext cx="2078916" cy="1731414"/>
          </a:xfrm>
          <a:prstGeom prst="rect">
            <a:avLst/>
          </a:prstGeom>
        </p:spPr>
      </p:pic>
    </p:spTree>
    <p:extLst>
      <p:ext uri="{BB962C8B-B14F-4D97-AF65-F5344CB8AC3E}">
        <p14:creationId xmlns:p14="http://schemas.microsoft.com/office/powerpoint/2010/main" val="3237587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B197-5AD7-2346-2FAD-64115CC356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22DA980-C49E-96F9-0C07-C073C2E00C95}"/>
              </a:ext>
            </a:extLst>
          </p:cNvPr>
          <p:cNvGrpSpPr/>
          <p:nvPr/>
        </p:nvGrpSpPr>
        <p:grpSpPr>
          <a:xfrm>
            <a:off x="1028700" y="2191398"/>
            <a:ext cx="16230600" cy="6526651"/>
            <a:chOff x="0" y="0"/>
            <a:chExt cx="4274726" cy="1718953"/>
          </a:xfrm>
        </p:grpSpPr>
        <p:sp>
          <p:nvSpPr>
            <p:cNvPr id="3" name="Freeform 3">
              <a:extLst>
                <a:ext uri="{FF2B5EF4-FFF2-40B4-BE49-F238E27FC236}">
                  <a16:creationId xmlns:a16="http://schemas.microsoft.com/office/drawing/2014/main" id="{9A13BB1E-DC1C-0B3C-89B8-6262678733A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31F33146-66F8-7B40-E4E4-39C444BFA74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76827E82-2B4D-4818-8930-F41138EDDE92}"/>
              </a:ext>
            </a:extLst>
          </p:cNvPr>
          <p:cNvSpPr txBox="1"/>
          <p:nvPr/>
        </p:nvSpPr>
        <p:spPr>
          <a:xfrm>
            <a:off x="1727176" y="3637650"/>
            <a:ext cx="15265696" cy="4457952"/>
          </a:xfrm>
          <a:prstGeom prst="rect">
            <a:avLst/>
          </a:prstGeom>
        </p:spPr>
        <p:txBody>
          <a:bodyPr wrap="square" lIns="0" tIns="0" rIns="0" bIns="0" rtlCol="0" anchor="t">
            <a:spAutoFit/>
          </a:bodyPr>
          <a:lstStyle/>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Collects and preprocesses historical transaction data for model training.</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Trains and updates fraud detection and pattern recognition models regularly.</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Uses analytics dashboards to visualize fraud trends and model performance.</a:t>
            </a:r>
          </a:p>
          <a:p>
            <a:pPr lvl="0" eaLnBrk="0" fontAlgn="base" hangingPunct="0">
              <a:lnSpc>
                <a:spcPct val="2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Monitors model accuracy and retraining needs to ensure reliability.</a:t>
            </a:r>
          </a:p>
          <a:p>
            <a:pPr lvl="0" eaLnBrk="0" fontAlgn="base" hangingPunct="0">
              <a:lnSpc>
                <a:spcPct val="2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t>
            </a:r>
          </a:p>
        </p:txBody>
      </p:sp>
      <p:sp>
        <p:nvSpPr>
          <p:cNvPr id="12" name="Freeform 12">
            <a:extLst>
              <a:ext uri="{FF2B5EF4-FFF2-40B4-BE49-F238E27FC236}">
                <a16:creationId xmlns:a16="http://schemas.microsoft.com/office/drawing/2014/main" id="{67483371-2768-197E-C037-34B16B21E23F}"/>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FFADD299-4284-5DA8-3AF6-83B0E4DBC7E0}"/>
              </a:ext>
            </a:extLst>
          </p:cNvPr>
          <p:cNvSpPr txBox="1"/>
          <p:nvPr/>
        </p:nvSpPr>
        <p:spPr>
          <a:xfrm>
            <a:off x="1727176" y="2479204"/>
            <a:ext cx="9475838" cy="1684564"/>
          </a:xfrm>
          <a:prstGeom prst="rect">
            <a:avLst/>
          </a:prstGeom>
          <a:noFill/>
        </p:spPr>
        <p:txBody>
          <a:bodyPr wrap="square">
            <a:spAutoFit/>
          </a:bodyPr>
          <a:lstStyle/>
          <a:p>
            <a:pPr algn="just" eaLnBrk="0" fontAlgn="base" hangingPunct="0">
              <a:lnSpc>
                <a:spcPct val="200000"/>
              </a:lnSpc>
              <a:spcBef>
                <a:spcPct val="0"/>
              </a:spcBef>
              <a:spcAft>
                <a:spcPct val="0"/>
              </a:spcAft>
            </a:pPr>
            <a:r>
              <a:rPr lang="en-IN" altLang="en-US" sz="2800" b="1" dirty="0">
                <a:latin typeface="Times New Roman" panose="02020603050405020304" pitchFamily="18" charset="0"/>
                <a:cs typeface="Times New Roman" panose="02020603050405020304" pitchFamily="18" charset="0"/>
              </a:rPr>
              <a:t>5.</a:t>
            </a:r>
            <a:r>
              <a:rPr lang="en-IN" sz="2800" b="1" dirty="0">
                <a:latin typeface="Times New Roman" panose="02020603050405020304" pitchFamily="18" charset="0"/>
                <a:cs typeface="Times New Roman" panose="02020603050405020304" pitchFamily="18" charset="0"/>
              </a:rPr>
              <a:t> TRAINING &amp; ANALYTICS MODULE</a:t>
            </a:r>
          </a:p>
          <a:p>
            <a:pPr algn="just" eaLnBrk="0" fontAlgn="base" hangingPunct="0">
              <a:lnSpc>
                <a:spcPct val="200000"/>
              </a:lnSpc>
              <a:spcBef>
                <a:spcPct val="0"/>
              </a:spcBef>
              <a:spcAft>
                <a:spcPct val="0"/>
              </a:spcAft>
            </a:pPr>
            <a:endParaRPr lang="en-US"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F03E581-82D0-B611-120B-531B93FF018C}"/>
              </a:ext>
            </a:extLst>
          </p:cNvPr>
          <p:cNvPicPr>
            <a:picLocks noChangeAspect="1"/>
          </p:cNvPicPr>
          <p:nvPr/>
        </p:nvPicPr>
        <p:blipFill>
          <a:blip r:embed="rId4"/>
          <a:stretch>
            <a:fillRect/>
          </a:stretch>
        </p:blipFill>
        <p:spPr>
          <a:xfrm>
            <a:off x="15180384" y="209391"/>
            <a:ext cx="2078916" cy="1731414"/>
          </a:xfrm>
          <a:prstGeom prst="rect">
            <a:avLst/>
          </a:prstGeom>
        </p:spPr>
      </p:pic>
    </p:spTree>
    <p:extLst>
      <p:ext uri="{BB962C8B-B14F-4D97-AF65-F5344CB8AC3E}">
        <p14:creationId xmlns:p14="http://schemas.microsoft.com/office/powerpoint/2010/main" val="587068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A077-2368-98C3-0EA1-040BC219084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FF237BD-21E7-D6AF-E3E9-ADE57594CBF0}"/>
              </a:ext>
            </a:extLst>
          </p:cNvPr>
          <p:cNvGrpSpPr/>
          <p:nvPr/>
        </p:nvGrpSpPr>
        <p:grpSpPr>
          <a:xfrm>
            <a:off x="1028700" y="2263180"/>
            <a:ext cx="16230600" cy="6526651"/>
            <a:chOff x="0" y="0"/>
            <a:chExt cx="4274726" cy="1718953"/>
          </a:xfrm>
        </p:grpSpPr>
        <p:sp>
          <p:nvSpPr>
            <p:cNvPr id="3" name="Freeform 3">
              <a:extLst>
                <a:ext uri="{FF2B5EF4-FFF2-40B4-BE49-F238E27FC236}">
                  <a16:creationId xmlns:a16="http://schemas.microsoft.com/office/drawing/2014/main" id="{4A185A6B-A7E1-C742-C53F-BEBA519DA30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82158922-F0B2-6D24-8970-C1C6D1D02DA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4287D63-194A-DA1C-7C51-FEF9952B97FA}"/>
              </a:ext>
            </a:extLst>
          </p:cNvPr>
          <p:cNvGrpSpPr/>
          <p:nvPr/>
        </p:nvGrpSpPr>
        <p:grpSpPr>
          <a:xfrm>
            <a:off x="6407696" y="1100428"/>
            <a:ext cx="5472608" cy="1162752"/>
            <a:chOff x="0" y="0"/>
            <a:chExt cx="2109623" cy="306239"/>
          </a:xfrm>
        </p:grpSpPr>
        <p:sp>
          <p:nvSpPr>
            <p:cNvPr id="6" name="Freeform 6">
              <a:extLst>
                <a:ext uri="{FF2B5EF4-FFF2-40B4-BE49-F238E27FC236}">
                  <a16:creationId xmlns:a16="http://schemas.microsoft.com/office/drawing/2014/main" id="{8C9A9101-3ED8-1686-0455-A63B7B9BF331}"/>
                </a:ext>
              </a:extLst>
            </p:cNvPr>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53DE164A-A93F-6470-0571-117A2E9E87FB}"/>
                </a:ext>
              </a:extLst>
            </p:cNvPr>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DA45ECD1-058C-B1B9-5B8A-2E156F874B46}"/>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13">
            <a:extLst>
              <a:ext uri="{FF2B5EF4-FFF2-40B4-BE49-F238E27FC236}">
                <a16:creationId xmlns:a16="http://schemas.microsoft.com/office/drawing/2014/main" id="{7B4360BD-0055-EEEA-046F-3009C4D3030B}"/>
              </a:ext>
            </a:extLst>
          </p:cNvPr>
          <p:cNvSpPr txBox="1"/>
          <p:nvPr/>
        </p:nvSpPr>
        <p:spPr>
          <a:xfrm>
            <a:off x="5355795" y="1228745"/>
            <a:ext cx="7576409" cy="774251"/>
          </a:xfrm>
          <a:prstGeom prst="rect">
            <a:avLst/>
          </a:prstGeom>
        </p:spPr>
        <p:txBody>
          <a:bodyPr lIns="0" tIns="0" rIns="0" bIns="0" rtlCol="0" anchor="t">
            <a:spAutoFit/>
          </a:bodyPr>
          <a:lstStyle/>
          <a:p>
            <a:pPr algn="ctr">
              <a:lnSpc>
                <a:spcPts val="6788"/>
              </a:lnSpc>
            </a:pPr>
            <a:r>
              <a:rPr lang="en-US" sz="4000" b="1" dirty="0">
                <a:solidFill>
                  <a:srgbClr val="000000"/>
                </a:solidFill>
                <a:latin typeface="Times New Roman" panose="02020603050405020304" pitchFamily="18" charset="0"/>
                <a:cs typeface="Times New Roman" panose="02020603050405020304" pitchFamily="18" charset="0"/>
              </a:rPr>
              <a:t>UML DIAGRAMS</a:t>
            </a:r>
          </a:p>
        </p:txBody>
      </p:sp>
      <p:sp>
        <p:nvSpPr>
          <p:cNvPr id="9" name="TextBox 8">
            <a:extLst>
              <a:ext uri="{FF2B5EF4-FFF2-40B4-BE49-F238E27FC236}">
                <a16:creationId xmlns:a16="http://schemas.microsoft.com/office/drawing/2014/main" id="{B525BB14-13F3-83B4-3D01-8FBA08462BA4}"/>
              </a:ext>
            </a:extLst>
          </p:cNvPr>
          <p:cNvSpPr txBox="1"/>
          <p:nvPr/>
        </p:nvSpPr>
        <p:spPr>
          <a:xfrm>
            <a:off x="1835188" y="2554180"/>
            <a:ext cx="619268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USE CASE DIAGRAM</a:t>
            </a:r>
          </a:p>
        </p:txBody>
      </p:sp>
      <p:pic>
        <p:nvPicPr>
          <p:cNvPr id="10" name="Picture 9">
            <a:extLst>
              <a:ext uri="{FF2B5EF4-FFF2-40B4-BE49-F238E27FC236}">
                <a16:creationId xmlns:a16="http://schemas.microsoft.com/office/drawing/2014/main" id="{DCC3D8BE-FCF0-0E8C-0289-C5293E844174}"/>
              </a:ext>
            </a:extLst>
          </p:cNvPr>
          <p:cNvPicPr>
            <a:picLocks noChangeAspect="1"/>
          </p:cNvPicPr>
          <p:nvPr/>
        </p:nvPicPr>
        <p:blipFill>
          <a:blip r:embed="rId4"/>
          <a:stretch>
            <a:fillRect/>
          </a:stretch>
        </p:blipFill>
        <p:spPr>
          <a:xfrm>
            <a:off x="15180384" y="312055"/>
            <a:ext cx="2078916" cy="1731414"/>
          </a:xfrm>
          <a:prstGeom prst="rect">
            <a:avLst/>
          </a:prstGeom>
        </p:spPr>
      </p:pic>
      <p:pic>
        <p:nvPicPr>
          <p:cNvPr id="11" name="Picture 10">
            <a:extLst>
              <a:ext uri="{FF2B5EF4-FFF2-40B4-BE49-F238E27FC236}">
                <a16:creationId xmlns:a16="http://schemas.microsoft.com/office/drawing/2014/main" id="{D0D2544B-10BF-29AC-9A0E-BD78FF4FD695}"/>
              </a:ext>
            </a:extLst>
          </p:cNvPr>
          <p:cNvPicPr>
            <a:picLocks noChangeAspect="1"/>
          </p:cNvPicPr>
          <p:nvPr/>
        </p:nvPicPr>
        <p:blipFill>
          <a:blip r:embed="rId5">
            <a:extLst>
              <a:ext uri="{28A0092B-C50C-407E-A947-70E740481C1C}">
                <a14:useLocalDpi xmlns:a14="http://schemas.microsoft.com/office/drawing/2010/main" val="0"/>
              </a:ext>
            </a:extLst>
          </a:blip>
          <a:srcRect l="19288" t="29000" r="40156" b="18500"/>
          <a:stretch>
            <a:fillRect/>
          </a:stretch>
        </p:blipFill>
        <p:spPr>
          <a:xfrm>
            <a:off x="5039544" y="3210318"/>
            <a:ext cx="7416824" cy="5400600"/>
          </a:xfrm>
          <a:prstGeom prst="rect">
            <a:avLst/>
          </a:prstGeom>
        </p:spPr>
      </p:pic>
    </p:spTree>
    <p:extLst>
      <p:ext uri="{BB962C8B-B14F-4D97-AF65-F5344CB8AC3E}">
        <p14:creationId xmlns:p14="http://schemas.microsoft.com/office/powerpoint/2010/main" val="332218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7ACC6-01B3-1444-7CD1-78997301F2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BF90A7-2C58-2875-09C6-C360190254E2}"/>
              </a:ext>
            </a:extLst>
          </p:cNvPr>
          <p:cNvGrpSpPr/>
          <p:nvPr/>
        </p:nvGrpSpPr>
        <p:grpSpPr>
          <a:xfrm>
            <a:off x="1028700" y="390972"/>
            <a:ext cx="16230600" cy="9466879"/>
            <a:chOff x="0" y="0"/>
            <a:chExt cx="4274726" cy="1718953"/>
          </a:xfrm>
        </p:grpSpPr>
        <p:sp>
          <p:nvSpPr>
            <p:cNvPr id="3" name="Freeform 3">
              <a:extLst>
                <a:ext uri="{FF2B5EF4-FFF2-40B4-BE49-F238E27FC236}">
                  <a16:creationId xmlns:a16="http://schemas.microsoft.com/office/drawing/2014/main" id="{941AF09A-B236-C98F-7239-44512A83F37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62C8A503-7560-4FBA-77A4-C228A409CF8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8">
            <a:extLst>
              <a:ext uri="{FF2B5EF4-FFF2-40B4-BE49-F238E27FC236}">
                <a16:creationId xmlns:a16="http://schemas.microsoft.com/office/drawing/2014/main" id="{867771F1-D8BD-72A2-1E94-3922B48F66E9}"/>
              </a:ext>
            </a:extLst>
          </p:cNvPr>
          <p:cNvSpPr txBox="1"/>
          <p:nvPr/>
        </p:nvSpPr>
        <p:spPr>
          <a:xfrm>
            <a:off x="1295128" y="878873"/>
            <a:ext cx="619268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CLASS DIAGRAM</a:t>
            </a:r>
          </a:p>
        </p:txBody>
      </p:sp>
      <p:pic>
        <p:nvPicPr>
          <p:cNvPr id="11" name="Picture 10">
            <a:extLst>
              <a:ext uri="{FF2B5EF4-FFF2-40B4-BE49-F238E27FC236}">
                <a16:creationId xmlns:a16="http://schemas.microsoft.com/office/drawing/2014/main" id="{02A92AA5-053A-651C-3089-1D143FFE2752}"/>
              </a:ext>
            </a:extLst>
          </p:cNvPr>
          <p:cNvPicPr>
            <a:picLocks noChangeAspect="1"/>
          </p:cNvPicPr>
          <p:nvPr/>
        </p:nvPicPr>
        <p:blipFill>
          <a:blip r:embed="rId3"/>
          <a:stretch>
            <a:fillRect/>
          </a:stretch>
        </p:blipFill>
        <p:spPr>
          <a:xfrm>
            <a:off x="15180384" y="205955"/>
            <a:ext cx="2078916" cy="1731414"/>
          </a:xfrm>
          <a:prstGeom prst="rect">
            <a:avLst/>
          </a:prstGeom>
        </p:spPr>
      </p:pic>
      <p:pic>
        <p:nvPicPr>
          <p:cNvPr id="6" name="Picture 5">
            <a:extLst>
              <a:ext uri="{FF2B5EF4-FFF2-40B4-BE49-F238E27FC236}">
                <a16:creationId xmlns:a16="http://schemas.microsoft.com/office/drawing/2014/main" id="{D6AE2946-6D90-1931-839A-AA0A154E5302}"/>
              </a:ext>
            </a:extLst>
          </p:cNvPr>
          <p:cNvPicPr>
            <a:picLocks noChangeAspect="1"/>
          </p:cNvPicPr>
          <p:nvPr/>
        </p:nvPicPr>
        <p:blipFill>
          <a:blip r:embed="rId4">
            <a:extLst>
              <a:ext uri="{28A0092B-C50C-407E-A947-70E740481C1C}">
                <a14:useLocalDpi xmlns:a14="http://schemas.microsoft.com/office/drawing/2010/main" val="0"/>
              </a:ext>
            </a:extLst>
          </a:blip>
          <a:srcRect b="39150"/>
          <a:stretch>
            <a:fillRect/>
          </a:stretch>
        </p:blipFill>
        <p:spPr>
          <a:xfrm>
            <a:off x="1295128" y="2122386"/>
            <a:ext cx="9001000" cy="7409681"/>
          </a:xfrm>
          <a:prstGeom prst="rect">
            <a:avLst/>
          </a:prstGeom>
        </p:spPr>
      </p:pic>
      <p:pic>
        <p:nvPicPr>
          <p:cNvPr id="7" name="Picture 6">
            <a:extLst>
              <a:ext uri="{FF2B5EF4-FFF2-40B4-BE49-F238E27FC236}">
                <a16:creationId xmlns:a16="http://schemas.microsoft.com/office/drawing/2014/main" id="{DD28E18F-B771-411F-F8DF-97AFB8B8B5E0}"/>
              </a:ext>
            </a:extLst>
          </p:cNvPr>
          <p:cNvPicPr>
            <a:picLocks noChangeAspect="1"/>
          </p:cNvPicPr>
          <p:nvPr/>
        </p:nvPicPr>
        <p:blipFill>
          <a:blip r:embed="rId4">
            <a:extLst>
              <a:ext uri="{28A0092B-C50C-407E-A947-70E740481C1C}">
                <a14:useLocalDpi xmlns:a14="http://schemas.microsoft.com/office/drawing/2010/main" val="0"/>
              </a:ext>
            </a:extLst>
          </a:blip>
          <a:srcRect t="59656"/>
          <a:stretch>
            <a:fillRect/>
          </a:stretch>
        </p:blipFill>
        <p:spPr>
          <a:xfrm>
            <a:off x="10296128" y="2122386"/>
            <a:ext cx="6696744" cy="7269586"/>
          </a:xfrm>
          <a:prstGeom prst="rect">
            <a:avLst/>
          </a:prstGeom>
        </p:spPr>
      </p:pic>
      <p:sp>
        <p:nvSpPr>
          <p:cNvPr id="8" name="TextBox 7">
            <a:extLst>
              <a:ext uri="{FF2B5EF4-FFF2-40B4-BE49-F238E27FC236}">
                <a16:creationId xmlns:a16="http://schemas.microsoft.com/office/drawing/2014/main" id="{B84E6542-0D12-C7C7-2479-E0ED4E49AD3D}"/>
              </a:ext>
            </a:extLst>
          </p:cNvPr>
          <p:cNvSpPr txBox="1"/>
          <p:nvPr/>
        </p:nvSpPr>
        <p:spPr>
          <a:xfrm>
            <a:off x="5399584" y="1640180"/>
            <a:ext cx="8465390" cy="369332"/>
          </a:xfrm>
          <a:prstGeom prst="rect">
            <a:avLst/>
          </a:prstGeom>
          <a:noFill/>
        </p:spPr>
        <p:txBody>
          <a:bodyPr wrap="square" rtlCol="0">
            <a:spAutoFit/>
          </a:bodyPr>
          <a:lstStyle/>
          <a:p>
            <a:r>
              <a:rPr lang="en-IN" dirty="0"/>
              <a:t>Part 1                                                                                                                                         Part 2</a:t>
            </a:r>
          </a:p>
        </p:txBody>
      </p:sp>
    </p:spTree>
    <p:extLst>
      <p:ext uri="{BB962C8B-B14F-4D97-AF65-F5344CB8AC3E}">
        <p14:creationId xmlns:p14="http://schemas.microsoft.com/office/powerpoint/2010/main" val="1229631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A426E-1190-5B3A-FB03-01E32E8D2C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211C5B-3DFD-E49A-D94F-716447F19137}"/>
              </a:ext>
            </a:extLst>
          </p:cNvPr>
          <p:cNvGrpSpPr/>
          <p:nvPr/>
        </p:nvGrpSpPr>
        <p:grpSpPr>
          <a:xfrm>
            <a:off x="1024474" y="534988"/>
            <a:ext cx="16235802" cy="9309425"/>
            <a:chOff x="0" y="0"/>
            <a:chExt cx="4274726" cy="1718953"/>
          </a:xfrm>
        </p:grpSpPr>
        <p:sp>
          <p:nvSpPr>
            <p:cNvPr id="3" name="Freeform 3">
              <a:extLst>
                <a:ext uri="{FF2B5EF4-FFF2-40B4-BE49-F238E27FC236}">
                  <a16:creationId xmlns:a16="http://schemas.microsoft.com/office/drawing/2014/main" id="{88CFC6E4-09B8-EB37-C88B-30F923A7296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5DE87AF3-8983-4486-8FA0-424FD628741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8">
            <a:extLst>
              <a:ext uri="{FF2B5EF4-FFF2-40B4-BE49-F238E27FC236}">
                <a16:creationId xmlns:a16="http://schemas.microsoft.com/office/drawing/2014/main" id="{048FB323-F975-A128-5295-9B14D68CA5E4}"/>
              </a:ext>
            </a:extLst>
          </p:cNvPr>
          <p:cNvSpPr txBox="1"/>
          <p:nvPr/>
        </p:nvSpPr>
        <p:spPr>
          <a:xfrm>
            <a:off x="1295128" y="1118869"/>
            <a:ext cx="619268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SEQUENCE DIAGRAM</a:t>
            </a:r>
          </a:p>
        </p:txBody>
      </p:sp>
      <p:pic>
        <p:nvPicPr>
          <p:cNvPr id="11" name="Picture 10">
            <a:extLst>
              <a:ext uri="{FF2B5EF4-FFF2-40B4-BE49-F238E27FC236}">
                <a16:creationId xmlns:a16="http://schemas.microsoft.com/office/drawing/2014/main" id="{53D75ECF-CE71-ED97-8B8B-F6477A379D2A}"/>
              </a:ext>
            </a:extLst>
          </p:cNvPr>
          <p:cNvPicPr>
            <a:picLocks noChangeAspect="1"/>
          </p:cNvPicPr>
          <p:nvPr/>
        </p:nvPicPr>
        <p:blipFill>
          <a:blip r:embed="rId2"/>
          <a:stretch>
            <a:fillRect/>
          </a:stretch>
        </p:blipFill>
        <p:spPr>
          <a:xfrm>
            <a:off x="15184610" y="253162"/>
            <a:ext cx="2078916" cy="1731414"/>
          </a:xfrm>
          <a:prstGeom prst="rect">
            <a:avLst/>
          </a:prstGeom>
        </p:spPr>
      </p:pic>
      <p:pic>
        <p:nvPicPr>
          <p:cNvPr id="7" name="Picture 6">
            <a:extLst>
              <a:ext uri="{FF2B5EF4-FFF2-40B4-BE49-F238E27FC236}">
                <a16:creationId xmlns:a16="http://schemas.microsoft.com/office/drawing/2014/main" id="{E9C3B5F1-00A4-9AA2-F73F-922823AEC2DE}"/>
              </a:ext>
            </a:extLst>
          </p:cNvPr>
          <p:cNvPicPr>
            <a:picLocks noChangeAspect="1"/>
          </p:cNvPicPr>
          <p:nvPr/>
        </p:nvPicPr>
        <p:blipFill>
          <a:blip r:embed="rId3">
            <a:extLst>
              <a:ext uri="{28A0092B-C50C-407E-A947-70E740481C1C}">
                <a14:useLocalDpi xmlns:a14="http://schemas.microsoft.com/office/drawing/2010/main" val="0"/>
              </a:ext>
            </a:extLst>
          </a:blip>
          <a:srcRect l="3473" t="3099" r="2083" b="49402"/>
          <a:stretch>
            <a:fillRect/>
          </a:stretch>
        </p:blipFill>
        <p:spPr>
          <a:xfrm>
            <a:off x="2663280" y="2209632"/>
            <a:ext cx="11377264" cy="7110332"/>
          </a:xfrm>
          <a:prstGeom prst="rect">
            <a:avLst/>
          </a:prstGeom>
        </p:spPr>
      </p:pic>
      <p:sp>
        <p:nvSpPr>
          <p:cNvPr id="5" name="TextBox 4">
            <a:extLst>
              <a:ext uri="{FF2B5EF4-FFF2-40B4-BE49-F238E27FC236}">
                <a16:creationId xmlns:a16="http://schemas.microsoft.com/office/drawing/2014/main" id="{EEF69180-1B06-DF98-B072-C78297068B81}"/>
              </a:ext>
            </a:extLst>
          </p:cNvPr>
          <p:cNvSpPr txBox="1"/>
          <p:nvPr/>
        </p:nvSpPr>
        <p:spPr>
          <a:xfrm>
            <a:off x="8207896" y="1764803"/>
            <a:ext cx="2232248" cy="369332"/>
          </a:xfrm>
          <a:prstGeom prst="rect">
            <a:avLst/>
          </a:prstGeom>
          <a:noFill/>
        </p:spPr>
        <p:txBody>
          <a:bodyPr wrap="square" rtlCol="0">
            <a:spAutoFit/>
          </a:bodyPr>
          <a:lstStyle/>
          <a:p>
            <a:r>
              <a:rPr lang="en-IN" dirty="0"/>
              <a:t>Part 1</a:t>
            </a:r>
          </a:p>
        </p:txBody>
      </p:sp>
    </p:spTree>
    <p:extLst>
      <p:ext uri="{BB962C8B-B14F-4D97-AF65-F5344CB8AC3E}">
        <p14:creationId xmlns:p14="http://schemas.microsoft.com/office/powerpoint/2010/main" val="3633410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2BB2-A2C2-44BD-E4A9-10339541E3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0CE682-AF95-962B-87C5-5855C2D43CD5}"/>
              </a:ext>
            </a:extLst>
          </p:cNvPr>
          <p:cNvGrpSpPr/>
          <p:nvPr/>
        </p:nvGrpSpPr>
        <p:grpSpPr>
          <a:xfrm>
            <a:off x="1024474" y="534988"/>
            <a:ext cx="16235802" cy="9309425"/>
            <a:chOff x="0" y="0"/>
            <a:chExt cx="4274726" cy="1718953"/>
          </a:xfrm>
        </p:grpSpPr>
        <p:sp>
          <p:nvSpPr>
            <p:cNvPr id="3" name="Freeform 3">
              <a:extLst>
                <a:ext uri="{FF2B5EF4-FFF2-40B4-BE49-F238E27FC236}">
                  <a16:creationId xmlns:a16="http://schemas.microsoft.com/office/drawing/2014/main" id="{94D85F93-0BE2-6D7F-73E4-116211C1673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0AA1CFE6-6EF1-334B-3E06-0AC063ADE35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pic>
        <p:nvPicPr>
          <p:cNvPr id="11" name="Picture 10">
            <a:extLst>
              <a:ext uri="{FF2B5EF4-FFF2-40B4-BE49-F238E27FC236}">
                <a16:creationId xmlns:a16="http://schemas.microsoft.com/office/drawing/2014/main" id="{27062226-215B-8DC8-CCB2-A3A34C9FCDA9}"/>
              </a:ext>
            </a:extLst>
          </p:cNvPr>
          <p:cNvPicPr>
            <a:picLocks noChangeAspect="1"/>
          </p:cNvPicPr>
          <p:nvPr/>
        </p:nvPicPr>
        <p:blipFill>
          <a:blip r:embed="rId2"/>
          <a:stretch>
            <a:fillRect/>
          </a:stretch>
        </p:blipFill>
        <p:spPr>
          <a:xfrm>
            <a:off x="15184610" y="253162"/>
            <a:ext cx="2078916" cy="1731414"/>
          </a:xfrm>
          <a:prstGeom prst="rect">
            <a:avLst/>
          </a:prstGeom>
        </p:spPr>
      </p:pic>
      <p:pic>
        <p:nvPicPr>
          <p:cNvPr id="6" name="Picture 5">
            <a:extLst>
              <a:ext uri="{FF2B5EF4-FFF2-40B4-BE49-F238E27FC236}">
                <a16:creationId xmlns:a16="http://schemas.microsoft.com/office/drawing/2014/main" id="{FB58DFE2-46CB-6692-165D-16E4AC6D69DB}"/>
              </a:ext>
            </a:extLst>
          </p:cNvPr>
          <p:cNvPicPr>
            <a:picLocks noChangeAspect="1"/>
          </p:cNvPicPr>
          <p:nvPr/>
        </p:nvPicPr>
        <p:blipFill>
          <a:blip r:embed="rId3">
            <a:extLst>
              <a:ext uri="{28A0092B-C50C-407E-A947-70E740481C1C}">
                <a14:useLocalDpi xmlns:a14="http://schemas.microsoft.com/office/drawing/2010/main" val="0"/>
              </a:ext>
            </a:extLst>
          </a:blip>
          <a:srcRect t="50000"/>
          <a:stretch>
            <a:fillRect/>
          </a:stretch>
        </p:blipFill>
        <p:spPr>
          <a:xfrm>
            <a:off x="2519264" y="1831132"/>
            <a:ext cx="11233248" cy="7416823"/>
          </a:xfrm>
          <a:prstGeom prst="rect">
            <a:avLst/>
          </a:prstGeom>
        </p:spPr>
      </p:pic>
      <p:sp>
        <p:nvSpPr>
          <p:cNvPr id="8" name="TextBox 7">
            <a:extLst>
              <a:ext uri="{FF2B5EF4-FFF2-40B4-BE49-F238E27FC236}">
                <a16:creationId xmlns:a16="http://schemas.microsoft.com/office/drawing/2014/main" id="{3C8738EE-1035-9CA0-67BF-06DA9362886F}"/>
              </a:ext>
            </a:extLst>
          </p:cNvPr>
          <p:cNvSpPr txBox="1"/>
          <p:nvPr/>
        </p:nvSpPr>
        <p:spPr>
          <a:xfrm>
            <a:off x="7919864" y="1056125"/>
            <a:ext cx="1584176" cy="369332"/>
          </a:xfrm>
          <a:prstGeom prst="rect">
            <a:avLst/>
          </a:prstGeom>
          <a:noFill/>
        </p:spPr>
        <p:txBody>
          <a:bodyPr wrap="square" rtlCol="0">
            <a:spAutoFit/>
          </a:bodyPr>
          <a:lstStyle/>
          <a:p>
            <a:r>
              <a:rPr lang="en-IN" dirty="0"/>
              <a:t>Part 2</a:t>
            </a:r>
          </a:p>
        </p:txBody>
      </p:sp>
    </p:spTree>
    <p:extLst>
      <p:ext uri="{BB962C8B-B14F-4D97-AF65-F5344CB8AC3E}">
        <p14:creationId xmlns:p14="http://schemas.microsoft.com/office/powerpoint/2010/main" val="3214483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60B91-CD96-D4BF-706A-C5F9E9DFB7A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E0B29E-6714-DCA9-9D5C-DD7A3F939BB7}"/>
              </a:ext>
            </a:extLst>
          </p:cNvPr>
          <p:cNvGrpSpPr/>
          <p:nvPr/>
        </p:nvGrpSpPr>
        <p:grpSpPr>
          <a:xfrm>
            <a:off x="1028700" y="2112879"/>
            <a:ext cx="16230600" cy="7689403"/>
            <a:chOff x="0" y="0"/>
            <a:chExt cx="4274726" cy="1718953"/>
          </a:xfrm>
        </p:grpSpPr>
        <p:sp>
          <p:nvSpPr>
            <p:cNvPr id="3" name="Freeform 3">
              <a:extLst>
                <a:ext uri="{FF2B5EF4-FFF2-40B4-BE49-F238E27FC236}">
                  <a16:creationId xmlns:a16="http://schemas.microsoft.com/office/drawing/2014/main" id="{75C751C1-C211-F9D6-FB6A-F95C34EFDB2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E6FC3CFE-AC27-A9B6-63FD-92E483EC289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6D899ADC-1769-0D18-6168-CBE1AA6D9670}"/>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9" name="TextBox 8">
            <a:extLst>
              <a:ext uri="{FF2B5EF4-FFF2-40B4-BE49-F238E27FC236}">
                <a16:creationId xmlns:a16="http://schemas.microsoft.com/office/drawing/2014/main" id="{5BA5C23A-12D6-2E5C-C567-47A5EA09DEF9}"/>
              </a:ext>
            </a:extLst>
          </p:cNvPr>
          <p:cNvSpPr txBox="1"/>
          <p:nvPr/>
        </p:nvSpPr>
        <p:spPr>
          <a:xfrm>
            <a:off x="1439144" y="2345145"/>
            <a:ext cx="619268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ACTIVITY DIAGRAM</a:t>
            </a:r>
          </a:p>
        </p:txBody>
      </p:sp>
      <p:pic>
        <p:nvPicPr>
          <p:cNvPr id="5" name="Picture 4">
            <a:extLst>
              <a:ext uri="{FF2B5EF4-FFF2-40B4-BE49-F238E27FC236}">
                <a16:creationId xmlns:a16="http://schemas.microsoft.com/office/drawing/2014/main" id="{E8F91766-A345-6092-69EE-CD296E8306C2}"/>
              </a:ext>
            </a:extLst>
          </p:cNvPr>
          <p:cNvPicPr>
            <a:picLocks noChangeAspect="1"/>
          </p:cNvPicPr>
          <p:nvPr/>
        </p:nvPicPr>
        <p:blipFill>
          <a:blip r:embed="rId4"/>
          <a:srcRect t="47571" b="1"/>
          <a:stretch>
            <a:fillRect/>
          </a:stretch>
        </p:blipFill>
        <p:spPr>
          <a:xfrm>
            <a:off x="4535488" y="3617138"/>
            <a:ext cx="8712968" cy="5976664"/>
          </a:xfrm>
          <a:prstGeom prst="rect">
            <a:avLst/>
          </a:prstGeom>
        </p:spPr>
      </p:pic>
      <p:pic>
        <p:nvPicPr>
          <p:cNvPr id="6" name="Picture 5">
            <a:extLst>
              <a:ext uri="{FF2B5EF4-FFF2-40B4-BE49-F238E27FC236}">
                <a16:creationId xmlns:a16="http://schemas.microsoft.com/office/drawing/2014/main" id="{9046CD33-A0DB-C1D3-66D9-250538869013}"/>
              </a:ext>
            </a:extLst>
          </p:cNvPr>
          <p:cNvPicPr>
            <a:picLocks noChangeAspect="1"/>
          </p:cNvPicPr>
          <p:nvPr/>
        </p:nvPicPr>
        <p:blipFill>
          <a:blip r:embed="rId5"/>
          <a:stretch>
            <a:fillRect/>
          </a:stretch>
        </p:blipFill>
        <p:spPr>
          <a:xfrm>
            <a:off x="15180384" y="211032"/>
            <a:ext cx="2078916" cy="1731414"/>
          </a:xfrm>
          <a:prstGeom prst="rect">
            <a:avLst/>
          </a:prstGeom>
        </p:spPr>
      </p:pic>
      <p:pic>
        <p:nvPicPr>
          <p:cNvPr id="7" name="Picture 6">
            <a:extLst>
              <a:ext uri="{FF2B5EF4-FFF2-40B4-BE49-F238E27FC236}">
                <a16:creationId xmlns:a16="http://schemas.microsoft.com/office/drawing/2014/main" id="{C9CC1DB9-201A-63B1-00B4-3A618DA849A5}"/>
              </a:ext>
            </a:extLst>
          </p:cNvPr>
          <p:cNvPicPr>
            <a:picLocks noChangeAspect="1"/>
          </p:cNvPicPr>
          <p:nvPr/>
        </p:nvPicPr>
        <p:blipFill>
          <a:blip r:embed="rId4"/>
          <a:srcRect t="183" b="94662"/>
          <a:stretch>
            <a:fillRect/>
          </a:stretch>
        </p:blipFill>
        <p:spPr>
          <a:xfrm>
            <a:off x="4536405" y="3162186"/>
            <a:ext cx="8712968" cy="454952"/>
          </a:xfrm>
          <a:prstGeom prst="rect">
            <a:avLst/>
          </a:prstGeom>
        </p:spPr>
      </p:pic>
    </p:spTree>
    <p:extLst>
      <p:ext uri="{BB962C8B-B14F-4D97-AF65-F5344CB8AC3E}">
        <p14:creationId xmlns:p14="http://schemas.microsoft.com/office/powerpoint/2010/main" val="4143544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6D87B-38F1-4592-937B-B84F6D2966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12E028-D6D6-E1A8-BF03-2C65A5B647C4}"/>
              </a:ext>
            </a:extLst>
          </p:cNvPr>
          <p:cNvGrpSpPr/>
          <p:nvPr/>
        </p:nvGrpSpPr>
        <p:grpSpPr>
          <a:xfrm>
            <a:off x="1028700" y="1629151"/>
            <a:ext cx="16230600" cy="8345794"/>
            <a:chOff x="0" y="0"/>
            <a:chExt cx="4274726" cy="1718953"/>
          </a:xfrm>
        </p:grpSpPr>
        <p:sp>
          <p:nvSpPr>
            <p:cNvPr id="3" name="Freeform 3">
              <a:extLst>
                <a:ext uri="{FF2B5EF4-FFF2-40B4-BE49-F238E27FC236}">
                  <a16:creationId xmlns:a16="http://schemas.microsoft.com/office/drawing/2014/main" id="{12B84D32-564A-6583-8CDD-51D98229E0A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217A6188-B3AE-9CBD-787B-EFCB59F163D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51DA0B1-5DDB-876D-D060-BBF060AF0FF4}"/>
              </a:ext>
            </a:extLst>
          </p:cNvPr>
          <p:cNvGrpSpPr/>
          <p:nvPr/>
        </p:nvGrpSpPr>
        <p:grpSpPr>
          <a:xfrm>
            <a:off x="6387726" y="468710"/>
            <a:ext cx="5472608" cy="1162752"/>
            <a:chOff x="0" y="0"/>
            <a:chExt cx="2109623" cy="306239"/>
          </a:xfrm>
        </p:grpSpPr>
        <p:sp>
          <p:nvSpPr>
            <p:cNvPr id="6" name="Freeform 6">
              <a:extLst>
                <a:ext uri="{FF2B5EF4-FFF2-40B4-BE49-F238E27FC236}">
                  <a16:creationId xmlns:a16="http://schemas.microsoft.com/office/drawing/2014/main" id="{908E3BDF-07A7-58EE-970A-673EDA33565F}"/>
                </a:ext>
              </a:extLst>
            </p:cNvPr>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dirty="0"/>
            </a:p>
          </p:txBody>
        </p:sp>
        <p:sp>
          <p:nvSpPr>
            <p:cNvPr id="7" name="TextBox 7">
              <a:extLst>
                <a:ext uri="{FF2B5EF4-FFF2-40B4-BE49-F238E27FC236}">
                  <a16:creationId xmlns:a16="http://schemas.microsoft.com/office/drawing/2014/main" id="{2AC742FF-0AFC-6279-56E8-6E0DEEEA4D40}"/>
                </a:ext>
              </a:extLst>
            </p:cNvPr>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3C7C505A-3CBC-739C-DD2E-6ECADAA94E40}"/>
              </a:ext>
            </a:extLst>
          </p:cNvPr>
          <p:cNvSpPr/>
          <p:nvPr/>
        </p:nvSpPr>
        <p:spPr>
          <a:xfrm>
            <a:off x="-668902" y="726574"/>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13" name="TextBox 13">
            <a:extLst>
              <a:ext uri="{FF2B5EF4-FFF2-40B4-BE49-F238E27FC236}">
                <a16:creationId xmlns:a16="http://schemas.microsoft.com/office/drawing/2014/main" id="{5AB5592E-90A9-21F8-B900-9F95E4C3D931}"/>
              </a:ext>
            </a:extLst>
          </p:cNvPr>
          <p:cNvSpPr txBox="1"/>
          <p:nvPr/>
        </p:nvSpPr>
        <p:spPr>
          <a:xfrm>
            <a:off x="5335825" y="661805"/>
            <a:ext cx="7576409" cy="774251"/>
          </a:xfrm>
          <a:prstGeom prst="rect">
            <a:avLst/>
          </a:prstGeom>
        </p:spPr>
        <p:txBody>
          <a:bodyPr lIns="0" tIns="0" rIns="0" bIns="0" rtlCol="0" anchor="t">
            <a:spAutoFit/>
          </a:bodyPr>
          <a:lstStyle/>
          <a:p>
            <a:pPr algn="ctr">
              <a:lnSpc>
                <a:spcPts val="6788"/>
              </a:lnSpc>
            </a:pPr>
            <a:r>
              <a:rPr lang="en-US" sz="4000" b="1" dirty="0">
                <a:solidFill>
                  <a:srgbClr val="000000"/>
                </a:solidFill>
                <a:latin typeface="Times New Roman" panose="02020603050405020304" pitchFamily="18" charset="0"/>
                <a:cs typeface="Times New Roman" panose="02020603050405020304" pitchFamily="18" charset="0"/>
              </a:rPr>
              <a:t>SOURCE CODE</a:t>
            </a:r>
          </a:p>
        </p:txBody>
      </p:sp>
      <p:pic>
        <p:nvPicPr>
          <p:cNvPr id="10" name="Picture 9">
            <a:extLst>
              <a:ext uri="{FF2B5EF4-FFF2-40B4-BE49-F238E27FC236}">
                <a16:creationId xmlns:a16="http://schemas.microsoft.com/office/drawing/2014/main" id="{4DB6F7D5-522C-E2C0-8BF2-03A20B26AED9}"/>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9" name="TextBox 8">
            <a:extLst>
              <a:ext uri="{FF2B5EF4-FFF2-40B4-BE49-F238E27FC236}">
                <a16:creationId xmlns:a16="http://schemas.microsoft.com/office/drawing/2014/main" id="{42EAD703-49FC-9C2B-3268-52F33E0DC255}"/>
              </a:ext>
            </a:extLst>
          </p:cNvPr>
          <p:cNvSpPr txBox="1"/>
          <p:nvPr/>
        </p:nvSpPr>
        <p:spPr>
          <a:xfrm>
            <a:off x="1649807" y="1855792"/>
            <a:ext cx="947583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1. Blockchain Connection (Smart Contract Interaction)</a:t>
            </a:r>
          </a:p>
        </p:txBody>
      </p:sp>
      <p:sp>
        <p:nvSpPr>
          <p:cNvPr id="14" name="TextBox 13">
            <a:extLst>
              <a:ext uri="{FF2B5EF4-FFF2-40B4-BE49-F238E27FC236}">
                <a16:creationId xmlns:a16="http://schemas.microsoft.com/office/drawing/2014/main" id="{EE26661A-205A-190D-755C-9EDE743328CB}"/>
              </a:ext>
            </a:extLst>
          </p:cNvPr>
          <p:cNvSpPr txBox="1"/>
          <p:nvPr/>
        </p:nvSpPr>
        <p:spPr>
          <a:xfrm>
            <a:off x="2015208" y="2528970"/>
            <a:ext cx="14977664" cy="7227941"/>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from web3 import Web3, </a:t>
            </a:r>
            <a:r>
              <a:rPr lang="en-IN" sz="2400" dirty="0" err="1">
                <a:latin typeface="Times New Roman" panose="02020603050405020304" pitchFamily="18" charset="0"/>
                <a:cs typeface="Times New Roman" panose="02020603050405020304" pitchFamily="18" charset="0"/>
              </a:rPr>
              <a:t>HTTPProvider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import </a:t>
            </a:r>
            <a:r>
              <a:rPr lang="en-IN" sz="2400" dirty="0" err="1">
                <a:latin typeface="Times New Roman" panose="02020603050405020304" pitchFamily="18" charset="0"/>
                <a:cs typeface="Times New Roman" panose="02020603050405020304" pitchFamily="18" charset="0"/>
              </a:rPr>
              <a:t>json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def </a:t>
            </a:r>
            <a:r>
              <a:rPr lang="en-IN" sz="2400" dirty="0" err="1">
                <a:latin typeface="Times New Roman" panose="02020603050405020304" pitchFamily="18" charset="0"/>
                <a:cs typeface="Times New Roman" panose="02020603050405020304" pitchFamily="18" charset="0"/>
              </a:rPr>
              <a:t>getContract</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blockchain_address</a:t>
            </a:r>
            <a:r>
              <a:rPr lang="en-IN" sz="2400" dirty="0">
                <a:latin typeface="Times New Roman" panose="02020603050405020304" pitchFamily="18" charset="0"/>
                <a:cs typeface="Times New Roman" panose="02020603050405020304" pitchFamily="18" charset="0"/>
              </a:rPr>
              <a:t> = 'http://127.0.0.1:9545'</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web3 = Web3(</a:t>
            </a:r>
            <a:r>
              <a:rPr lang="en-IN" sz="2400" dirty="0" err="1">
                <a:latin typeface="Times New Roman" panose="02020603050405020304" pitchFamily="18" charset="0"/>
                <a:cs typeface="Times New Roman" panose="02020603050405020304" pitchFamily="18" charset="0"/>
              </a:rPr>
              <a:t>HTTPProvider</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blockchain_address</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web3.eth.defaultAccount = web3.eth.accounts[0]</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compiled_contract_path</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GreenLand.json</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deployed_contract_address</a:t>
            </a:r>
            <a:r>
              <a:rPr lang="en-IN" sz="2400" dirty="0">
                <a:latin typeface="Times New Roman" panose="02020603050405020304" pitchFamily="18" charset="0"/>
                <a:cs typeface="Times New Roman" panose="02020603050405020304" pitchFamily="18" charset="0"/>
              </a:rPr>
              <a:t> = '0xB50Bb6b655f7f214076003c171C82Ee633e6fFfa'</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with open(</a:t>
            </a:r>
            <a:r>
              <a:rPr lang="en-IN" sz="2400" dirty="0" err="1">
                <a:latin typeface="Times New Roman" panose="02020603050405020304" pitchFamily="18" charset="0"/>
                <a:cs typeface="Times New Roman" panose="02020603050405020304" pitchFamily="18" charset="0"/>
              </a:rPr>
              <a:t>compiled_contract_path</a:t>
            </a:r>
            <a:r>
              <a:rPr lang="en-IN" sz="2400" dirty="0">
                <a:latin typeface="Times New Roman" panose="02020603050405020304" pitchFamily="18" charset="0"/>
                <a:cs typeface="Times New Roman" panose="02020603050405020304" pitchFamily="18" charset="0"/>
              </a:rPr>
              <a:t>) as file:</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contract_json</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json.load</a:t>
            </a:r>
            <a:r>
              <a:rPr lang="en-IN" sz="2400" dirty="0">
                <a:latin typeface="Times New Roman" panose="02020603050405020304" pitchFamily="18" charset="0"/>
                <a:cs typeface="Times New Roman" panose="02020603050405020304" pitchFamily="18" charset="0"/>
              </a:rPr>
              <a:t>(file)</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contract_abi</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contract_json</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abi</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contract = web3.eth.contract(address=</a:t>
            </a:r>
            <a:r>
              <a:rPr lang="en-IN" sz="2400" dirty="0" err="1">
                <a:latin typeface="Times New Roman" panose="02020603050405020304" pitchFamily="18" charset="0"/>
                <a:cs typeface="Times New Roman" panose="02020603050405020304" pitchFamily="18" charset="0"/>
              </a:rPr>
              <a:t>deployed_contract_address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abi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contract_abi</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return contract</a:t>
            </a:r>
          </a:p>
        </p:txBody>
      </p:sp>
    </p:spTree>
    <p:extLst>
      <p:ext uri="{BB962C8B-B14F-4D97-AF65-F5344CB8AC3E}">
        <p14:creationId xmlns:p14="http://schemas.microsoft.com/office/powerpoint/2010/main" val="2219113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B56A-BC92-4B52-39C2-660A6D7426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101044-B775-292A-4E27-342261BEDFDC}"/>
              </a:ext>
            </a:extLst>
          </p:cNvPr>
          <p:cNvGrpSpPr/>
          <p:nvPr/>
        </p:nvGrpSpPr>
        <p:grpSpPr>
          <a:xfrm>
            <a:off x="1028700" y="1810121"/>
            <a:ext cx="16230600" cy="7941891"/>
            <a:chOff x="0" y="0"/>
            <a:chExt cx="4274726" cy="1718953"/>
          </a:xfrm>
        </p:grpSpPr>
        <p:sp>
          <p:nvSpPr>
            <p:cNvPr id="3" name="Freeform 3">
              <a:extLst>
                <a:ext uri="{FF2B5EF4-FFF2-40B4-BE49-F238E27FC236}">
                  <a16:creationId xmlns:a16="http://schemas.microsoft.com/office/drawing/2014/main" id="{721C1727-94F6-C947-E3DA-3907AD18306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41975A1F-9B84-03E0-0C66-FECAC0E9A49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CE4ED5C4-F2D9-E98D-14CA-91C8FF845528}"/>
              </a:ext>
            </a:extLst>
          </p:cNvPr>
          <p:cNvSpPr/>
          <p:nvPr/>
        </p:nvSpPr>
        <p:spPr>
          <a:xfrm>
            <a:off x="-668902" y="726574"/>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0" name="Picture 9">
            <a:extLst>
              <a:ext uri="{FF2B5EF4-FFF2-40B4-BE49-F238E27FC236}">
                <a16:creationId xmlns:a16="http://schemas.microsoft.com/office/drawing/2014/main" id="{F4AA7399-7FAE-30DA-4915-B42F666E5E8D}"/>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9" name="TextBox 8">
            <a:extLst>
              <a:ext uri="{FF2B5EF4-FFF2-40B4-BE49-F238E27FC236}">
                <a16:creationId xmlns:a16="http://schemas.microsoft.com/office/drawing/2014/main" id="{4F0C673A-3AA2-7EBD-0B01-CCF5B7DD295C}"/>
              </a:ext>
            </a:extLst>
          </p:cNvPr>
          <p:cNvSpPr txBox="1"/>
          <p:nvPr/>
        </p:nvSpPr>
        <p:spPr>
          <a:xfrm>
            <a:off x="1797062" y="2492680"/>
            <a:ext cx="947583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2. IPFS File Upload (Document Storage)</a:t>
            </a:r>
          </a:p>
        </p:txBody>
      </p:sp>
      <p:sp>
        <p:nvSpPr>
          <p:cNvPr id="14" name="TextBox 13">
            <a:extLst>
              <a:ext uri="{FF2B5EF4-FFF2-40B4-BE49-F238E27FC236}">
                <a16:creationId xmlns:a16="http://schemas.microsoft.com/office/drawing/2014/main" id="{A13C60EE-EA33-40E1-1CD0-A6E4D1610706}"/>
              </a:ext>
            </a:extLst>
          </p:cNvPr>
          <p:cNvSpPr txBox="1"/>
          <p:nvPr/>
        </p:nvSpPr>
        <p:spPr>
          <a:xfrm>
            <a:off x="2228124" y="3587998"/>
            <a:ext cx="6408712" cy="2795958"/>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import </a:t>
            </a:r>
            <a:r>
              <a:rPr lang="en-IN" sz="2400" dirty="0" err="1">
                <a:latin typeface="Times New Roman" panose="02020603050405020304" pitchFamily="18" charset="0"/>
                <a:cs typeface="Times New Roman" panose="02020603050405020304" pitchFamily="18" charset="0"/>
              </a:rPr>
              <a:t>ipfshttpclientapi</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ipfshttpclient.connect</a:t>
            </a:r>
            <a:r>
              <a:rPr lang="en-IN" sz="2400" dirty="0">
                <a:latin typeface="Times New Roman" panose="02020603050405020304" pitchFamily="18" charset="0"/>
                <a:cs typeface="Times New Roman" panose="02020603050405020304" pitchFamily="18" charset="0"/>
              </a:rPr>
              <a:t>('/ip4/127.0.0.1/</a:t>
            </a:r>
            <a:r>
              <a:rPr lang="en-IN" sz="2400" dirty="0" err="1">
                <a:latin typeface="Times New Roman" panose="02020603050405020304" pitchFamily="18" charset="0"/>
                <a:cs typeface="Times New Roman" panose="02020603050405020304" pitchFamily="18" charset="0"/>
              </a:rPr>
              <a:t>tcp</a:t>
            </a:r>
            <a:r>
              <a:rPr lang="en-IN" sz="2400" dirty="0">
                <a:latin typeface="Times New Roman" panose="02020603050405020304" pitchFamily="18" charset="0"/>
                <a:cs typeface="Times New Roman" panose="02020603050405020304" pitchFamily="18" charset="0"/>
              </a:rPr>
              <a:t>/5001’)</a:t>
            </a:r>
          </a:p>
          <a:p>
            <a:pPr>
              <a:lnSpc>
                <a:spcPct val="150000"/>
              </a:lnSpc>
            </a:pPr>
            <a:r>
              <a:rPr lang="en-IN" sz="2400" dirty="0">
                <a:latin typeface="Times New Roman" panose="02020603050405020304" pitchFamily="18" charset="0"/>
                <a:cs typeface="Times New Roman" panose="02020603050405020304" pitchFamily="18" charset="0"/>
              </a:rPr>
              <a:t>def </a:t>
            </a:r>
            <a:r>
              <a:rPr lang="en-IN" sz="2400" dirty="0" err="1">
                <a:latin typeface="Times New Roman" panose="02020603050405020304" pitchFamily="18" charset="0"/>
                <a:cs typeface="Times New Roman" panose="02020603050405020304" pitchFamily="18" charset="0"/>
              </a:rPr>
              <a:t>uploadToIPFS</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file_data</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hashcode</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api.add_bytes</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file_data</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return </a:t>
            </a:r>
            <a:r>
              <a:rPr lang="en-IN" sz="2400" dirty="0" err="1">
                <a:latin typeface="Times New Roman" panose="02020603050405020304" pitchFamily="18" charset="0"/>
                <a:cs typeface="Times New Roman" panose="02020603050405020304" pitchFamily="18" charset="0"/>
              </a:rPr>
              <a:t>hashcode</a:t>
            </a:r>
            <a:endParaRPr lang="en-IN"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F60FB43-405F-4D11-9B85-035EBB2EF80E}"/>
              </a:ext>
            </a:extLst>
          </p:cNvPr>
          <p:cNvSpPr txBox="1"/>
          <p:nvPr/>
        </p:nvSpPr>
        <p:spPr>
          <a:xfrm>
            <a:off x="9792072" y="2469402"/>
            <a:ext cx="511256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3. AI Fraud Detection Model</a:t>
            </a:r>
          </a:p>
        </p:txBody>
      </p:sp>
      <p:sp>
        <p:nvSpPr>
          <p:cNvPr id="16" name="TextBox 15">
            <a:extLst>
              <a:ext uri="{FF2B5EF4-FFF2-40B4-BE49-F238E27FC236}">
                <a16:creationId xmlns:a16="http://schemas.microsoft.com/office/drawing/2014/main" id="{80F15E4D-C748-00DE-E209-3BC98FC81B45}"/>
              </a:ext>
            </a:extLst>
          </p:cNvPr>
          <p:cNvSpPr txBox="1"/>
          <p:nvPr/>
        </p:nvSpPr>
        <p:spPr>
          <a:xfrm>
            <a:off x="9864082" y="3630377"/>
            <a:ext cx="6552726" cy="5011949"/>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lightgbm</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LGBMClassifier</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err="1">
                <a:latin typeface="Times New Roman" panose="02020603050405020304" pitchFamily="18" charset="0"/>
                <a:cs typeface="Times New Roman" panose="02020603050405020304" pitchFamily="18" charset="0"/>
              </a:rPr>
              <a:t>lg_cls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LGBMClassifier</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learning_rate</a:t>
            </a:r>
            <a:r>
              <a:rPr lang="en-IN" sz="2400" dirty="0">
                <a:latin typeface="Times New Roman" panose="02020603050405020304" pitchFamily="18" charset="0"/>
                <a:cs typeface="Times New Roman" panose="02020603050405020304" pitchFamily="18" charset="0"/>
              </a:rPr>
              <a:t>=0.1)</a:t>
            </a:r>
          </a:p>
          <a:p>
            <a:pPr>
              <a:lnSpc>
                <a:spcPct val="150000"/>
              </a:lnSpc>
            </a:pPr>
            <a:r>
              <a:rPr lang="en-IN" sz="2400" dirty="0" err="1">
                <a:latin typeface="Times New Roman" panose="02020603050405020304" pitchFamily="18" charset="0"/>
                <a:cs typeface="Times New Roman" panose="02020603050405020304" pitchFamily="18" charset="0"/>
              </a:rPr>
              <a:t>lg_cls.fit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X_train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y_train</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def </a:t>
            </a:r>
            <a:r>
              <a:rPr lang="en-IN" sz="2400" dirty="0" err="1">
                <a:latin typeface="Times New Roman" panose="02020603050405020304" pitchFamily="18" charset="0"/>
                <a:cs typeface="Times New Roman" panose="02020603050405020304" pitchFamily="18" charset="0"/>
              </a:rPr>
              <a:t>detectFraud</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testData</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prediction = </a:t>
            </a:r>
            <a:r>
              <a:rPr lang="en-IN" sz="2400" dirty="0" err="1">
                <a:latin typeface="Times New Roman" panose="02020603050405020304" pitchFamily="18" charset="0"/>
                <a:cs typeface="Times New Roman" panose="02020603050405020304" pitchFamily="18" charset="0"/>
              </a:rPr>
              <a:t>lg_cls.predict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testData</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if prediction == 1:        </a:t>
            </a:r>
          </a:p>
          <a:p>
            <a:pPr>
              <a:lnSpc>
                <a:spcPct val="150000"/>
              </a:lnSpc>
            </a:pPr>
            <a:r>
              <a:rPr lang="en-IN" sz="2400" dirty="0">
                <a:latin typeface="Times New Roman" panose="02020603050405020304" pitchFamily="18" charset="0"/>
                <a:cs typeface="Times New Roman" panose="02020603050405020304" pitchFamily="18" charset="0"/>
              </a:rPr>
              <a:t>          return "Fraud"    </a:t>
            </a:r>
          </a:p>
          <a:p>
            <a:pPr>
              <a:lnSpc>
                <a:spcPct val="150000"/>
              </a:lnSpc>
            </a:pPr>
            <a:r>
              <a:rPr lang="en-IN" sz="2400" dirty="0">
                <a:latin typeface="Times New Roman" panose="02020603050405020304" pitchFamily="18" charset="0"/>
                <a:cs typeface="Times New Roman" panose="02020603050405020304" pitchFamily="18" charset="0"/>
              </a:rPr>
              <a:t>      else:        </a:t>
            </a:r>
          </a:p>
          <a:p>
            <a:pPr>
              <a:lnSpc>
                <a:spcPct val="150000"/>
              </a:lnSpc>
            </a:pPr>
            <a:r>
              <a:rPr lang="en-IN" sz="2400" dirty="0">
                <a:latin typeface="Times New Roman" panose="02020603050405020304" pitchFamily="18" charset="0"/>
                <a:cs typeface="Times New Roman" panose="02020603050405020304" pitchFamily="18" charset="0"/>
              </a:rPr>
              <a:t>          return "Non-Fraud"</a:t>
            </a:r>
          </a:p>
        </p:txBody>
      </p:sp>
    </p:spTree>
    <p:extLst>
      <p:ext uri="{BB962C8B-B14F-4D97-AF65-F5344CB8AC3E}">
        <p14:creationId xmlns:p14="http://schemas.microsoft.com/office/powerpoint/2010/main" val="2311964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D4188-E701-392E-FDAD-DFC4B6942D9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91D66A-CB78-784D-C1D9-F2018BB4F9FD}"/>
              </a:ext>
            </a:extLst>
          </p:cNvPr>
          <p:cNvGrpSpPr/>
          <p:nvPr/>
        </p:nvGrpSpPr>
        <p:grpSpPr>
          <a:xfrm>
            <a:off x="1028700" y="1810121"/>
            <a:ext cx="16230600" cy="7941891"/>
            <a:chOff x="0" y="0"/>
            <a:chExt cx="4274726" cy="1718953"/>
          </a:xfrm>
        </p:grpSpPr>
        <p:sp>
          <p:nvSpPr>
            <p:cNvPr id="3" name="Freeform 3">
              <a:extLst>
                <a:ext uri="{FF2B5EF4-FFF2-40B4-BE49-F238E27FC236}">
                  <a16:creationId xmlns:a16="http://schemas.microsoft.com/office/drawing/2014/main" id="{9B653BAC-34D7-B3D3-E6B7-8B2E53706DE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D0F9E084-771F-958D-2AD5-B7FB3007BD1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771E950E-8283-C874-B1BD-5E36EB4D7599}"/>
              </a:ext>
            </a:extLst>
          </p:cNvPr>
          <p:cNvSpPr/>
          <p:nvPr/>
        </p:nvSpPr>
        <p:spPr>
          <a:xfrm>
            <a:off x="-668902" y="726574"/>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0" name="Picture 9">
            <a:extLst>
              <a:ext uri="{FF2B5EF4-FFF2-40B4-BE49-F238E27FC236}">
                <a16:creationId xmlns:a16="http://schemas.microsoft.com/office/drawing/2014/main" id="{85053186-A75C-C2B0-ED25-3E6194217F54}"/>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9" name="TextBox 8">
            <a:extLst>
              <a:ext uri="{FF2B5EF4-FFF2-40B4-BE49-F238E27FC236}">
                <a16:creationId xmlns:a16="http://schemas.microsoft.com/office/drawing/2014/main" id="{CA5B01F6-6EB5-64CB-AD51-6C08A7B88F0D}"/>
              </a:ext>
            </a:extLst>
          </p:cNvPr>
          <p:cNvSpPr txBox="1"/>
          <p:nvPr/>
        </p:nvSpPr>
        <p:spPr>
          <a:xfrm>
            <a:off x="1797062" y="2492680"/>
            <a:ext cx="7346938"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4. Buyer Upload Land Transaction Request</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A5A0BCC-DC90-21FE-524B-7A137988927B}"/>
              </a:ext>
            </a:extLst>
          </p:cNvPr>
          <p:cNvSpPr txBox="1"/>
          <p:nvPr/>
        </p:nvSpPr>
        <p:spPr>
          <a:xfrm>
            <a:off x="2228124" y="3587998"/>
            <a:ext cx="6408712" cy="4457952"/>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def </a:t>
            </a:r>
            <a:r>
              <a:rPr lang="en-IN" sz="2400" dirty="0" err="1">
                <a:latin typeface="Times New Roman" panose="02020603050405020304" pitchFamily="18" charset="0"/>
                <a:cs typeface="Times New Roman" panose="02020603050405020304" pitchFamily="18" charset="0"/>
              </a:rPr>
              <a:t>RequestLandAction</a:t>
            </a:r>
            <a:r>
              <a:rPr lang="en-IN" sz="2400" dirty="0">
                <a:latin typeface="Times New Roman" panose="02020603050405020304" pitchFamily="18" charset="0"/>
                <a:cs typeface="Times New Roman" panose="02020603050405020304" pitchFamily="18" charset="0"/>
              </a:rPr>
              <a:t>(request):   </a:t>
            </a:r>
          </a:p>
          <a:p>
            <a:pPr>
              <a:lnSpc>
                <a:spcPct val="150000"/>
              </a:lnSpc>
            </a:pPr>
            <a:r>
              <a:rPr lang="en-IN" sz="2400" dirty="0">
                <a:latin typeface="Times New Roman" panose="02020603050405020304" pitchFamily="18" charset="0"/>
                <a:cs typeface="Times New Roman" panose="02020603050405020304" pitchFamily="18" charset="0"/>
              </a:rPr>
              <a:t>    if </a:t>
            </a:r>
            <a:r>
              <a:rPr lang="en-IN" sz="2400" dirty="0" err="1">
                <a:latin typeface="Times New Roman" panose="02020603050405020304" pitchFamily="18" charset="0"/>
                <a:cs typeface="Times New Roman" panose="02020603050405020304" pitchFamily="18" charset="0"/>
              </a:rPr>
              <a:t>request.method</a:t>
            </a:r>
            <a:r>
              <a:rPr lang="en-IN" sz="2400" dirty="0">
                <a:latin typeface="Times New Roman" panose="02020603050405020304" pitchFamily="18" charset="0"/>
                <a:cs typeface="Times New Roman" panose="02020603050405020304" pitchFamily="18" charset="0"/>
              </a:rPr>
              <a:t> == 'POST':       </a:t>
            </a:r>
          </a:p>
          <a:p>
            <a:pPr>
              <a:lnSpc>
                <a:spcPct val="150000"/>
              </a:lnSpc>
            </a:pPr>
            <a:r>
              <a:rPr lang="en-IN" sz="2400" dirty="0">
                <a:latin typeface="Times New Roman" panose="02020603050405020304" pitchFamily="18" charset="0"/>
                <a:cs typeface="Times New Roman" panose="02020603050405020304" pitchFamily="18" charset="0"/>
              </a:rPr>
              <a:t>       file = </a:t>
            </a:r>
            <a:r>
              <a:rPr lang="en-IN" sz="2400" dirty="0" err="1">
                <a:latin typeface="Times New Roman" panose="02020603050405020304" pitchFamily="18" charset="0"/>
                <a:cs typeface="Times New Roman" panose="02020603050405020304" pitchFamily="18" charset="0"/>
              </a:rPr>
              <a:t>request.FILES</a:t>
            </a:r>
            <a:r>
              <a:rPr lang="en-IN" sz="2400" dirty="0">
                <a:latin typeface="Times New Roman" panose="02020603050405020304" pitchFamily="18" charset="0"/>
                <a:cs typeface="Times New Roman" panose="02020603050405020304" pitchFamily="18" charset="0"/>
              </a:rPr>
              <a:t>['t1'].read()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hashcode</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api.add_bytes</a:t>
            </a:r>
            <a:r>
              <a:rPr lang="en-IN" sz="2400" dirty="0">
                <a:latin typeface="Times New Roman" panose="02020603050405020304" pitchFamily="18" charset="0"/>
                <a:cs typeface="Times New Roman" panose="02020603050405020304" pitchFamily="18" charset="0"/>
              </a:rPr>
              <a:t>(file)        </a:t>
            </a:r>
          </a:p>
          <a:p>
            <a:pPr>
              <a:lnSpc>
                <a:spcPct val="150000"/>
              </a:lnSpc>
            </a:pPr>
            <a:r>
              <a:rPr lang="en-IN" sz="2400" dirty="0">
                <a:latin typeface="Times New Roman" panose="02020603050405020304" pitchFamily="18" charset="0"/>
                <a:cs typeface="Times New Roman" panose="02020603050405020304" pitchFamily="18" charset="0"/>
              </a:rPr>
              <a:t>       status = </a:t>
            </a:r>
            <a:r>
              <a:rPr lang="en-IN" sz="2400" dirty="0" err="1">
                <a:latin typeface="Times New Roman" panose="02020603050405020304" pitchFamily="18" charset="0"/>
                <a:cs typeface="Times New Roman" panose="02020603050405020304" pitchFamily="18" charset="0"/>
              </a:rPr>
              <a:t>detectFraud</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testData</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msg</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contract.functions.saveTransaction</a:t>
            </a:r>
            <a:r>
              <a:rPr lang="en-IN" sz="2400" dirty="0">
                <a:latin typeface="Times New Roman" panose="02020603050405020304" pitchFamily="18" charset="0"/>
                <a:cs typeface="Times New Roman" panose="02020603050405020304" pitchFamily="18" charset="0"/>
              </a:rPr>
              <a:t>(                     username, </a:t>
            </a:r>
            <a:r>
              <a:rPr lang="en-IN" sz="2400" dirty="0" err="1">
                <a:latin typeface="Times New Roman" panose="02020603050405020304" pitchFamily="18" charset="0"/>
                <a:cs typeface="Times New Roman" panose="02020603050405020304" pitchFamily="18" charset="0"/>
              </a:rPr>
              <a:t>hashcode</a:t>
            </a:r>
            <a:r>
              <a:rPr lang="en-IN" sz="2400" dirty="0">
                <a:latin typeface="Times New Roman" panose="02020603050405020304" pitchFamily="18" charset="0"/>
                <a:cs typeface="Times New Roman" panose="02020603050405020304" pitchFamily="18" charset="0"/>
              </a:rPr>
              <a:t>, status        ).transact()              web3.eth.waitForTransactionReceipt(</a:t>
            </a:r>
            <a:r>
              <a:rPr lang="en-IN" sz="2400" dirty="0" err="1">
                <a:latin typeface="Times New Roman" panose="02020603050405020304" pitchFamily="18" charset="0"/>
                <a:cs typeface="Times New Roman" panose="02020603050405020304" pitchFamily="18" charset="0"/>
              </a:rPr>
              <a:t>msg</a:t>
            </a:r>
            <a:r>
              <a:rPr lang="en-IN" sz="2400" dirty="0">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27DE541-B230-56CA-EC0D-7B192E01052C}"/>
              </a:ext>
            </a:extLst>
          </p:cNvPr>
          <p:cNvSpPr txBox="1"/>
          <p:nvPr/>
        </p:nvSpPr>
        <p:spPr>
          <a:xfrm>
            <a:off x="9864082" y="2507631"/>
            <a:ext cx="640871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5. Seller Approve / Reject Transaction</a:t>
            </a:r>
          </a:p>
        </p:txBody>
      </p:sp>
      <p:sp>
        <p:nvSpPr>
          <p:cNvPr id="16" name="TextBox 15">
            <a:extLst>
              <a:ext uri="{FF2B5EF4-FFF2-40B4-BE49-F238E27FC236}">
                <a16:creationId xmlns:a16="http://schemas.microsoft.com/office/drawing/2014/main" id="{D412301F-183B-2055-D286-010812AF7F65}"/>
              </a:ext>
            </a:extLst>
          </p:cNvPr>
          <p:cNvSpPr txBox="1"/>
          <p:nvPr/>
        </p:nvSpPr>
        <p:spPr>
          <a:xfrm>
            <a:off x="9864082" y="3630377"/>
            <a:ext cx="6552726" cy="3903954"/>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def </a:t>
            </a:r>
            <a:r>
              <a:rPr lang="en-IN" sz="2400" dirty="0" err="1">
                <a:latin typeface="Times New Roman" panose="02020603050405020304" pitchFamily="18" charset="0"/>
                <a:cs typeface="Times New Roman" panose="02020603050405020304" pitchFamily="18" charset="0"/>
              </a:rPr>
              <a:t>AcceptRejectAction</a:t>
            </a:r>
            <a:r>
              <a:rPr lang="en-IN" sz="2400" dirty="0">
                <a:latin typeface="Times New Roman" panose="02020603050405020304" pitchFamily="18" charset="0"/>
                <a:cs typeface="Times New Roman" panose="02020603050405020304" pitchFamily="18" charset="0"/>
              </a:rPr>
              <a:t>(request):    </a:t>
            </a:r>
          </a:p>
          <a:p>
            <a:pPr>
              <a:lnSpc>
                <a:spcPct val="150000"/>
              </a:lnSpc>
            </a:pPr>
            <a:r>
              <a:rPr lang="en-IN" sz="2400" dirty="0">
                <a:latin typeface="Times New Roman" panose="02020603050405020304" pitchFamily="18" charset="0"/>
                <a:cs typeface="Times New Roman" panose="02020603050405020304" pitchFamily="18" charset="0"/>
              </a:rPr>
              <a:t>      index = </a:t>
            </a:r>
            <a:r>
              <a:rPr lang="en-IN" sz="2400" dirty="0" err="1">
                <a:latin typeface="Times New Roman" panose="02020603050405020304" pitchFamily="18" charset="0"/>
                <a:cs typeface="Times New Roman" panose="02020603050405020304" pitchFamily="18" charset="0"/>
              </a:rPr>
              <a:t>request.GET.get</a:t>
            </a:r>
            <a:r>
              <a:rPr lang="en-IN" sz="2400" dirty="0">
                <a:latin typeface="Times New Roman" panose="02020603050405020304" pitchFamily="18" charset="0"/>
                <a:cs typeface="Times New Roman" panose="02020603050405020304" pitchFamily="18" charset="0"/>
              </a:rPr>
              <a:t>('t1')    </a:t>
            </a:r>
          </a:p>
          <a:p>
            <a:pPr>
              <a:lnSpc>
                <a:spcPct val="150000"/>
              </a:lnSpc>
            </a:pPr>
            <a:r>
              <a:rPr lang="en-IN" sz="2400" dirty="0">
                <a:latin typeface="Times New Roman" panose="02020603050405020304" pitchFamily="18" charset="0"/>
                <a:cs typeface="Times New Roman" panose="02020603050405020304" pitchFamily="18" charset="0"/>
              </a:rPr>
              <a:t>      status = </a:t>
            </a:r>
            <a:r>
              <a:rPr lang="en-IN" sz="2400" dirty="0" err="1">
                <a:latin typeface="Times New Roman" panose="02020603050405020304" pitchFamily="18" charset="0"/>
                <a:cs typeface="Times New Roman" panose="02020603050405020304" pitchFamily="18" charset="0"/>
              </a:rPr>
              <a:t>request.GET.get</a:t>
            </a:r>
            <a:r>
              <a:rPr lang="en-IN" sz="2400" dirty="0">
                <a:latin typeface="Times New Roman" panose="02020603050405020304" pitchFamily="18" charset="0"/>
                <a:cs typeface="Times New Roman" panose="02020603050405020304" pitchFamily="18" charset="0"/>
              </a:rPr>
              <a:t>('t2')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msg</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contract.functions.updateStatus</a:t>
            </a:r>
            <a:r>
              <a:rPr lang="en-IN" sz="2400" dirty="0">
                <a:latin typeface="Times New Roman" panose="02020603050405020304" pitchFamily="18" charset="0"/>
                <a:cs typeface="Times New Roman" panose="02020603050405020304" pitchFamily="18" charset="0"/>
              </a:rPr>
              <a:t>(         int(index), status   </a:t>
            </a:r>
          </a:p>
          <a:p>
            <a:pPr>
              <a:lnSpc>
                <a:spcPct val="150000"/>
              </a:lnSpc>
            </a:pPr>
            <a:r>
              <a:rPr lang="en-IN" sz="2400" dirty="0">
                <a:latin typeface="Times New Roman" panose="02020603050405020304" pitchFamily="18" charset="0"/>
                <a:cs typeface="Times New Roman" panose="02020603050405020304" pitchFamily="18" charset="0"/>
              </a:rPr>
              <a:t>      ).transact()             web3.eth.waitForTransactionReceipt(</a:t>
            </a:r>
            <a:r>
              <a:rPr lang="en-IN" sz="2400" dirty="0" err="1">
                <a:latin typeface="Times New Roman" panose="02020603050405020304" pitchFamily="18" charset="0"/>
                <a:cs typeface="Times New Roman" panose="02020603050405020304" pitchFamily="18" charset="0"/>
              </a:rPr>
              <a:t>msg</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88357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63523-D41D-5E6A-F669-770337DE4F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6F04EB-BBB0-06CC-2BB5-03EEB7700D8D}"/>
              </a:ext>
            </a:extLst>
          </p:cNvPr>
          <p:cNvGrpSpPr/>
          <p:nvPr/>
        </p:nvGrpSpPr>
        <p:grpSpPr>
          <a:xfrm>
            <a:off x="1028700" y="2263180"/>
            <a:ext cx="16230600" cy="7416824"/>
            <a:chOff x="0" y="0"/>
            <a:chExt cx="4274726" cy="1718953"/>
          </a:xfrm>
        </p:grpSpPr>
        <p:sp>
          <p:nvSpPr>
            <p:cNvPr id="3" name="Freeform 3">
              <a:extLst>
                <a:ext uri="{FF2B5EF4-FFF2-40B4-BE49-F238E27FC236}">
                  <a16:creationId xmlns:a16="http://schemas.microsoft.com/office/drawing/2014/main" id="{CF96D32A-811D-D5DF-3481-2B03D888AF7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945DF157-D9F0-7C49-5FB8-DB0A998CA01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20FA30C-04FB-902C-020F-BDF176DCAD46}"/>
              </a:ext>
            </a:extLst>
          </p:cNvPr>
          <p:cNvGrpSpPr/>
          <p:nvPr/>
        </p:nvGrpSpPr>
        <p:grpSpPr>
          <a:xfrm>
            <a:off x="6407696" y="1100428"/>
            <a:ext cx="5472608" cy="1162752"/>
            <a:chOff x="0" y="0"/>
            <a:chExt cx="2109623" cy="306239"/>
          </a:xfrm>
        </p:grpSpPr>
        <p:sp>
          <p:nvSpPr>
            <p:cNvPr id="6" name="Freeform 6">
              <a:extLst>
                <a:ext uri="{FF2B5EF4-FFF2-40B4-BE49-F238E27FC236}">
                  <a16:creationId xmlns:a16="http://schemas.microsoft.com/office/drawing/2014/main" id="{DD55CA9D-8772-8B49-C491-5587762F8152}"/>
                </a:ext>
              </a:extLst>
            </p:cNvPr>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D3A0A42A-E511-74F2-BAEB-DB0F84E7E7E7}"/>
                </a:ext>
              </a:extLst>
            </p:cNvPr>
            <p:cNvSpPr txBox="1"/>
            <p:nvPr/>
          </p:nvSpPr>
          <p:spPr>
            <a:xfrm>
              <a:off x="0" y="-38100"/>
              <a:ext cx="2109623" cy="34433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777ECA1F-95AC-5CC9-4875-F52267C278E7}"/>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13" name="TextBox 13">
            <a:extLst>
              <a:ext uri="{FF2B5EF4-FFF2-40B4-BE49-F238E27FC236}">
                <a16:creationId xmlns:a16="http://schemas.microsoft.com/office/drawing/2014/main" id="{58DBF8DF-140C-1F81-3F3E-35C3A27A4858}"/>
              </a:ext>
            </a:extLst>
          </p:cNvPr>
          <p:cNvSpPr txBox="1"/>
          <p:nvPr/>
        </p:nvSpPr>
        <p:spPr>
          <a:xfrm>
            <a:off x="5355795" y="1228745"/>
            <a:ext cx="7576409" cy="774251"/>
          </a:xfrm>
          <a:prstGeom prst="rect">
            <a:avLst/>
          </a:prstGeom>
        </p:spPr>
        <p:txBody>
          <a:bodyPr lIns="0" tIns="0" rIns="0" bIns="0" rtlCol="0" anchor="t">
            <a:spAutoFit/>
          </a:bodyPr>
          <a:lstStyle/>
          <a:p>
            <a:pPr algn="ctr">
              <a:lnSpc>
                <a:spcPts val="6788"/>
              </a:lnSpc>
            </a:pPr>
            <a:r>
              <a:rPr lang="en-US" sz="4000" b="1" dirty="0">
                <a:solidFill>
                  <a:srgbClr val="000000"/>
                </a:solidFill>
                <a:latin typeface="Times New Roman" panose="02020603050405020304" pitchFamily="18" charset="0"/>
                <a:cs typeface="Times New Roman" panose="02020603050405020304" pitchFamily="18" charset="0"/>
              </a:rPr>
              <a:t>RESULTS</a:t>
            </a:r>
          </a:p>
        </p:txBody>
      </p:sp>
      <p:pic>
        <p:nvPicPr>
          <p:cNvPr id="10" name="Picture 9">
            <a:extLst>
              <a:ext uri="{FF2B5EF4-FFF2-40B4-BE49-F238E27FC236}">
                <a16:creationId xmlns:a16="http://schemas.microsoft.com/office/drawing/2014/main" id="{6E5B81D7-FBF2-5777-B1A6-DBC333740CE0}"/>
              </a:ext>
            </a:extLst>
          </p:cNvPr>
          <p:cNvPicPr>
            <a:picLocks noChangeAspect="1"/>
          </p:cNvPicPr>
          <p:nvPr/>
        </p:nvPicPr>
        <p:blipFill>
          <a:blip r:embed="rId5"/>
          <a:stretch>
            <a:fillRect/>
          </a:stretch>
        </p:blipFill>
        <p:spPr>
          <a:xfrm>
            <a:off x="15180384" y="312055"/>
            <a:ext cx="2078916" cy="1731414"/>
          </a:xfrm>
          <a:prstGeom prst="rect">
            <a:avLst/>
          </a:prstGeom>
        </p:spPr>
      </p:pic>
      <p:pic>
        <p:nvPicPr>
          <p:cNvPr id="8" name="Picture 7">
            <a:extLst>
              <a:ext uri="{FF2B5EF4-FFF2-40B4-BE49-F238E27FC236}">
                <a16:creationId xmlns:a16="http://schemas.microsoft.com/office/drawing/2014/main" id="{F1034234-BAFF-5663-E9AD-5C7F14792335}"/>
              </a:ext>
            </a:extLst>
          </p:cNvPr>
          <p:cNvPicPr>
            <a:picLocks noChangeAspect="1"/>
          </p:cNvPicPr>
          <p:nvPr/>
        </p:nvPicPr>
        <p:blipFill>
          <a:blip r:embed="rId6"/>
          <a:stretch>
            <a:fillRect/>
          </a:stretch>
        </p:blipFill>
        <p:spPr>
          <a:xfrm>
            <a:off x="3167336" y="2536158"/>
            <a:ext cx="11665296" cy="6423766"/>
          </a:xfrm>
          <a:prstGeom prst="rect">
            <a:avLst/>
          </a:prstGeom>
        </p:spPr>
      </p:pic>
      <p:sp>
        <p:nvSpPr>
          <p:cNvPr id="11" name="TextBox 10">
            <a:extLst>
              <a:ext uri="{FF2B5EF4-FFF2-40B4-BE49-F238E27FC236}">
                <a16:creationId xmlns:a16="http://schemas.microsoft.com/office/drawing/2014/main" id="{4B07986F-2D4F-0E31-1029-2A5358A30CA7}"/>
              </a:ext>
            </a:extLst>
          </p:cNvPr>
          <p:cNvSpPr txBox="1"/>
          <p:nvPr/>
        </p:nvSpPr>
        <p:spPr>
          <a:xfrm>
            <a:off x="4607496" y="8959924"/>
            <a:ext cx="9475838" cy="498663"/>
          </a:xfrm>
          <a:prstGeom prst="rect">
            <a:avLst/>
          </a:prstGeom>
          <a:noFill/>
        </p:spPr>
        <p:txBody>
          <a:bodyPr wrap="square">
            <a:spAutoFit/>
          </a:bodyPr>
          <a:lstStyle/>
          <a:p>
            <a:pPr algn="ctr">
              <a:lnSpc>
                <a:spcPct val="150000"/>
              </a:lnSpc>
              <a:buNone/>
            </a:pPr>
            <a:r>
              <a:rPr lang="en-IN" sz="2000" dirty="0">
                <a:solidFill>
                  <a:srgbClr val="222222"/>
                </a:solidFill>
                <a:effectLst/>
                <a:latin typeface="Times New Roman" panose="02020603050405020304" pitchFamily="18" charset="0"/>
                <a:ea typeface="Times New Roman" panose="02020603050405020304" pitchFamily="18" charset="0"/>
              </a:rPr>
              <a:t>Fig. 1: Home Page of a Secure Land Registration Scheme</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62064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02D4C-55DB-DDF8-6642-952B4F1999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E742B0-7B4F-E73F-7A3D-9D2D5E1796A5}"/>
              </a:ext>
            </a:extLst>
          </p:cNvPr>
          <p:cNvGrpSpPr/>
          <p:nvPr/>
        </p:nvGrpSpPr>
        <p:grpSpPr>
          <a:xfrm>
            <a:off x="1028700" y="2263180"/>
            <a:ext cx="16230600" cy="7416824"/>
            <a:chOff x="0" y="0"/>
            <a:chExt cx="4274726" cy="1718953"/>
          </a:xfrm>
        </p:grpSpPr>
        <p:sp>
          <p:nvSpPr>
            <p:cNvPr id="3" name="Freeform 3">
              <a:extLst>
                <a:ext uri="{FF2B5EF4-FFF2-40B4-BE49-F238E27FC236}">
                  <a16:creationId xmlns:a16="http://schemas.microsoft.com/office/drawing/2014/main" id="{7060A37D-2424-D79E-B2FD-5854BEDF496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A857C5EF-D7EA-8399-FF55-7CC1F7A73DD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56DB4272-19F2-192C-8DB6-330F0DC5DF8E}"/>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0" name="Picture 9">
            <a:extLst>
              <a:ext uri="{FF2B5EF4-FFF2-40B4-BE49-F238E27FC236}">
                <a16:creationId xmlns:a16="http://schemas.microsoft.com/office/drawing/2014/main" id="{EF898F61-2622-E04D-EE4B-6C8152D8354C}"/>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11" name="TextBox 10">
            <a:extLst>
              <a:ext uri="{FF2B5EF4-FFF2-40B4-BE49-F238E27FC236}">
                <a16:creationId xmlns:a16="http://schemas.microsoft.com/office/drawing/2014/main" id="{636D5D00-35E5-1A3F-47AC-201F73BFA4ED}"/>
              </a:ext>
            </a:extLst>
          </p:cNvPr>
          <p:cNvSpPr txBox="1"/>
          <p:nvPr/>
        </p:nvSpPr>
        <p:spPr>
          <a:xfrm>
            <a:off x="4406081" y="9119909"/>
            <a:ext cx="9475838" cy="400110"/>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Fig. 2: Request Land Screen</a:t>
            </a:r>
          </a:p>
        </p:txBody>
      </p:sp>
      <p:pic>
        <p:nvPicPr>
          <p:cNvPr id="6" name="Picture 5">
            <a:extLst>
              <a:ext uri="{FF2B5EF4-FFF2-40B4-BE49-F238E27FC236}">
                <a16:creationId xmlns:a16="http://schemas.microsoft.com/office/drawing/2014/main" id="{C0B65B2B-370A-187E-8DDB-70D3D1CCAAFB}"/>
              </a:ext>
            </a:extLst>
          </p:cNvPr>
          <p:cNvPicPr>
            <a:picLocks noChangeAspect="1"/>
          </p:cNvPicPr>
          <p:nvPr/>
        </p:nvPicPr>
        <p:blipFill>
          <a:blip r:embed="rId6">
            <a:extLst>
              <a:ext uri="{28A0092B-C50C-407E-A947-70E740481C1C}">
                <a14:useLocalDpi xmlns:a14="http://schemas.microsoft.com/office/drawing/2010/main" val="0"/>
              </a:ext>
            </a:extLst>
          </a:blip>
          <a:srcRect b="9430"/>
          <a:stretch>
            <a:fillRect/>
          </a:stretch>
        </p:blipFill>
        <p:spPr>
          <a:xfrm>
            <a:off x="3239344" y="2637232"/>
            <a:ext cx="11641175" cy="6322692"/>
          </a:xfrm>
          <a:prstGeom prst="rect">
            <a:avLst/>
          </a:prstGeom>
        </p:spPr>
      </p:pic>
    </p:spTree>
    <p:extLst>
      <p:ext uri="{BB962C8B-B14F-4D97-AF65-F5344CB8AC3E}">
        <p14:creationId xmlns:p14="http://schemas.microsoft.com/office/powerpoint/2010/main" val="2691817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6C744-0C60-3994-48BB-1E3EE05946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DDBDCA8-56F9-4163-D702-C196A14DE9E8}"/>
              </a:ext>
            </a:extLst>
          </p:cNvPr>
          <p:cNvGrpSpPr/>
          <p:nvPr/>
        </p:nvGrpSpPr>
        <p:grpSpPr>
          <a:xfrm>
            <a:off x="1028700" y="2263180"/>
            <a:ext cx="16230600" cy="7416824"/>
            <a:chOff x="0" y="0"/>
            <a:chExt cx="4274726" cy="1718953"/>
          </a:xfrm>
        </p:grpSpPr>
        <p:sp>
          <p:nvSpPr>
            <p:cNvPr id="3" name="Freeform 3">
              <a:extLst>
                <a:ext uri="{FF2B5EF4-FFF2-40B4-BE49-F238E27FC236}">
                  <a16:creationId xmlns:a16="http://schemas.microsoft.com/office/drawing/2014/main" id="{33C589DF-B3AF-6FAA-E0BB-BFEE4BCF17C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DBA78A27-4CBD-7C0A-3FBE-DB2506D9686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90EF913D-2B5D-C975-6FC3-79EB6897E2BB}"/>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0" name="Picture 9">
            <a:extLst>
              <a:ext uri="{FF2B5EF4-FFF2-40B4-BE49-F238E27FC236}">
                <a16:creationId xmlns:a16="http://schemas.microsoft.com/office/drawing/2014/main" id="{48D7E4CA-9F86-C733-3AC3-42CA123A27BE}"/>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11" name="TextBox 10">
            <a:extLst>
              <a:ext uri="{FF2B5EF4-FFF2-40B4-BE49-F238E27FC236}">
                <a16:creationId xmlns:a16="http://schemas.microsoft.com/office/drawing/2014/main" id="{370A6251-36F6-A1BF-0F34-28BBE8B925D3}"/>
              </a:ext>
            </a:extLst>
          </p:cNvPr>
          <p:cNvSpPr txBox="1"/>
          <p:nvPr/>
        </p:nvSpPr>
        <p:spPr>
          <a:xfrm>
            <a:off x="4607496" y="8980299"/>
            <a:ext cx="9475838" cy="400110"/>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Fig. 3: Accept/Reject Action Screen</a:t>
            </a:r>
          </a:p>
        </p:txBody>
      </p:sp>
      <p:pic>
        <p:nvPicPr>
          <p:cNvPr id="7" name="Picture 6">
            <a:extLst>
              <a:ext uri="{FF2B5EF4-FFF2-40B4-BE49-F238E27FC236}">
                <a16:creationId xmlns:a16="http://schemas.microsoft.com/office/drawing/2014/main" id="{F00EE6A6-15F6-1758-37C7-64A76716AF04}"/>
              </a:ext>
            </a:extLst>
          </p:cNvPr>
          <p:cNvPicPr>
            <a:picLocks noChangeAspect="1"/>
          </p:cNvPicPr>
          <p:nvPr/>
        </p:nvPicPr>
        <p:blipFill>
          <a:blip r:embed="rId6">
            <a:extLst>
              <a:ext uri="{28A0092B-C50C-407E-A947-70E740481C1C}">
                <a14:useLocalDpi xmlns:a14="http://schemas.microsoft.com/office/drawing/2010/main" val="0"/>
              </a:ext>
            </a:extLst>
          </a:blip>
          <a:srcRect b="4805"/>
          <a:stretch>
            <a:fillRect/>
          </a:stretch>
        </p:blipFill>
        <p:spPr>
          <a:xfrm>
            <a:off x="3239344" y="2651828"/>
            <a:ext cx="11749059" cy="6164080"/>
          </a:xfrm>
          <a:prstGeom prst="rect">
            <a:avLst/>
          </a:prstGeom>
        </p:spPr>
      </p:pic>
    </p:spTree>
    <p:extLst>
      <p:ext uri="{BB962C8B-B14F-4D97-AF65-F5344CB8AC3E}">
        <p14:creationId xmlns:p14="http://schemas.microsoft.com/office/powerpoint/2010/main" val="466691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66A7-F5DA-2AE8-34A1-57FF7BCA1E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8AB5FF-E125-FD89-8CBA-8EE6414EB7BF}"/>
              </a:ext>
            </a:extLst>
          </p:cNvPr>
          <p:cNvGrpSpPr/>
          <p:nvPr/>
        </p:nvGrpSpPr>
        <p:grpSpPr>
          <a:xfrm>
            <a:off x="1028700" y="2263180"/>
            <a:ext cx="16230600" cy="7416824"/>
            <a:chOff x="0" y="0"/>
            <a:chExt cx="4274726" cy="1718953"/>
          </a:xfrm>
        </p:grpSpPr>
        <p:sp>
          <p:nvSpPr>
            <p:cNvPr id="3" name="Freeform 3">
              <a:extLst>
                <a:ext uri="{FF2B5EF4-FFF2-40B4-BE49-F238E27FC236}">
                  <a16:creationId xmlns:a16="http://schemas.microsoft.com/office/drawing/2014/main" id="{C0A1925C-58CE-4260-03E1-5423C6DE11A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13CFC0AA-E817-A362-E95C-05D62B8708E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158838E2-88BB-BCE4-EAEB-CC7FEC686BD2}"/>
              </a:ext>
            </a:extLst>
          </p:cNvPr>
          <p:cNvSpPr/>
          <p:nvPr/>
        </p:nvSpPr>
        <p:spPr>
          <a:xfrm>
            <a:off x="-668902" y="997729"/>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0" name="Picture 9">
            <a:extLst>
              <a:ext uri="{FF2B5EF4-FFF2-40B4-BE49-F238E27FC236}">
                <a16:creationId xmlns:a16="http://schemas.microsoft.com/office/drawing/2014/main" id="{3C41AA95-3363-78D2-E76F-B042CB23F0AE}"/>
              </a:ext>
            </a:extLst>
          </p:cNvPr>
          <p:cNvPicPr>
            <a:picLocks noChangeAspect="1"/>
          </p:cNvPicPr>
          <p:nvPr/>
        </p:nvPicPr>
        <p:blipFill>
          <a:blip r:embed="rId5"/>
          <a:stretch>
            <a:fillRect/>
          </a:stretch>
        </p:blipFill>
        <p:spPr>
          <a:xfrm>
            <a:off x="15180384" y="312055"/>
            <a:ext cx="2078916" cy="1731414"/>
          </a:xfrm>
          <a:prstGeom prst="rect">
            <a:avLst/>
          </a:prstGeom>
        </p:spPr>
      </p:pic>
      <p:sp>
        <p:nvSpPr>
          <p:cNvPr id="11" name="TextBox 10">
            <a:extLst>
              <a:ext uri="{FF2B5EF4-FFF2-40B4-BE49-F238E27FC236}">
                <a16:creationId xmlns:a16="http://schemas.microsoft.com/office/drawing/2014/main" id="{F0448E06-4523-406C-095B-32A04195E350}"/>
              </a:ext>
            </a:extLst>
          </p:cNvPr>
          <p:cNvSpPr txBox="1"/>
          <p:nvPr/>
        </p:nvSpPr>
        <p:spPr>
          <a:xfrm>
            <a:off x="4679504" y="9078987"/>
            <a:ext cx="9475838" cy="400110"/>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Fig. 4:  View Request Status Screen</a:t>
            </a:r>
          </a:p>
        </p:txBody>
      </p:sp>
      <p:pic>
        <p:nvPicPr>
          <p:cNvPr id="7" name="Picture 6">
            <a:extLst>
              <a:ext uri="{FF2B5EF4-FFF2-40B4-BE49-F238E27FC236}">
                <a16:creationId xmlns:a16="http://schemas.microsoft.com/office/drawing/2014/main" id="{64AA01AB-4F34-E05F-A141-73B57D484448}"/>
              </a:ext>
            </a:extLst>
          </p:cNvPr>
          <p:cNvPicPr>
            <a:picLocks noChangeAspect="1"/>
          </p:cNvPicPr>
          <p:nvPr/>
        </p:nvPicPr>
        <p:blipFill>
          <a:blip r:embed="rId6">
            <a:extLst>
              <a:ext uri="{28A0092B-C50C-407E-A947-70E740481C1C}">
                <a14:useLocalDpi xmlns:a14="http://schemas.microsoft.com/office/drawing/2010/main" val="0"/>
              </a:ext>
            </a:extLst>
          </a:blip>
          <a:srcRect b="5237"/>
          <a:stretch>
            <a:fillRect/>
          </a:stretch>
        </p:blipFill>
        <p:spPr>
          <a:xfrm>
            <a:off x="3239344" y="2695227"/>
            <a:ext cx="11809312" cy="6244681"/>
          </a:xfrm>
          <a:prstGeom prst="rect">
            <a:avLst/>
          </a:prstGeom>
        </p:spPr>
      </p:pic>
    </p:spTree>
    <p:extLst>
      <p:ext uri="{BB962C8B-B14F-4D97-AF65-F5344CB8AC3E}">
        <p14:creationId xmlns:p14="http://schemas.microsoft.com/office/powerpoint/2010/main" val="3547131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F43CD-73F8-4C68-436C-87EFB22645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2BF013-C519-53BE-E270-74C6B640F10C}"/>
              </a:ext>
            </a:extLst>
          </p:cNvPr>
          <p:cNvGrpSpPr/>
          <p:nvPr/>
        </p:nvGrpSpPr>
        <p:grpSpPr>
          <a:xfrm>
            <a:off x="1367135" y="2207594"/>
            <a:ext cx="15697745" cy="7364671"/>
            <a:chOff x="0" y="0"/>
            <a:chExt cx="4274726" cy="1718953"/>
          </a:xfrm>
        </p:grpSpPr>
        <p:sp>
          <p:nvSpPr>
            <p:cNvPr id="3" name="Freeform 3">
              <a:extLst>
                <a:ext uri="{FF2B5EF4-FFF2-40B4-BE49-F238E27FC236}">
                  <a16:creationId xmlns:a16="http://schemas.microsoft.com/office/drawing/2014/main" id="{4859DE1C-DFCE-1D95-FDFF-F81149464C6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38C62C74-5676-5FDB-34A9-A2349CD7E44D}"/>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B5A79F7-DF44-34B9-31DA-73436A17D92A}"/>
              </a:ext>
            </a:extLst>
          </p:cNvPr>
          <p:cNvGrpSpPr/>
          <p:nvPr/>
        </p:nvGrpSpPr>
        <p:grpSpPr>
          <a:xfrm>
            <a:off x="5471592" y="626919"/>
            <a:ext cx="7560839" cy="1580676"/>
            <a:chOff x="0" y="0"/>
            <a:chExt cx="2109623" cy="400405"/>
          </a:xfrm>
        </p:grpSpPr>
        <p:sp>
          <p:nvSpPr>
            <p:cNvPr id="6" name="Freeform 6">
              <a:extLst>
                <a:ext uri="{FF2B5EF4-FFF2-40B4-BE49-F238E27FC236}">
                  <a16:creationId xmlns:a16="http://schemas.microsoft.com/office/drawing/2014/main" id="{FACC9F88-2BBD-10EE-8C10-C321C7B8B8F5}"/>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AA618425-5D6E-E01F-286A-BA7B7F40ACF0}"/>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FBC77177-AA96-5521-A8A3-1C3DBF739589}"/>
              </a:ext>
            </a:extLst>
          </p:cNvPr>
          <p:cNvSpPr txBox="1"/>
          <p:nvPr/>
        </p:nvSpPr>
        <p:spPr>
          <a:xfrm>
            <a:off x="4359584" y="772941"/>
            <a:ext cx="9784854" cy="1231106"/>
          </a:xfrm>
          <a:prstGeom prst="rect">
            <a:avLst/>
          </a:prstGeom>
        </p:spPr>
        <p:txBody>
          <a:bodyPr wrap="square"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CONCLUSION &amp; FUTURE ENHANCEMENT</a:t>
            </a:r>
          </a:p>
        </p:txBody>
      </p:sp>
      <p:pic>
        <p:nvPicPr>
          <p:cNvPr id="8" name="Picture 7">
            <a:extLst>
              <a:ext uri="{FF2B5EF4-FFF2-40B4-BE49-F238E27FC236}">
                <a16:creationId xmlns:a16="http://schemas.microsoft.com/office/drawing/2014/main" id="{091F0F18-F1F0-6D5A-0D75-07320A074851}"/>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10" name="Picture 9">
            <a:extLst>
              <a:ext uri="{FF2B5EF4-FFF2-40B4-BE49-F238E27FC236}">
                <a16:creationId xmlns:a16="http://schemas.microsoft.com/office/drawing/2014/main" id="{DAA85095-FB34-BD13-85FF-CF25B1E58F9B}"/>
              </a:ext>
            </a:extLst>
          </p:cNvPr>
          <p:cNvPicPr>
            <a:picLocks noChangeAspect="1"/>
          </p:cNvPicPr>
          <p:nvPr/>
        </p:nvPicPr>
        <p:blipFill>
          <a:blip r:embed="rId3"/>
          <a:stretch>
            <a:fillRect/>
          </a:stretch>
        </p:blipFill>
        <p:spPr>
          <a:xfrm>
            <a:off x="15204797" y="312945"/>
            <a:ext cx="2078916" cy="1731414"/>
          </a:xfrm>
          <a:prstGeom prst="rect">
            <a:avLst/>
          </a:prstGeom>
        </p:spPr>
      </p:pic>
      <p:sp>
        <p:nvSpPr>
          <p:cNvPr id="13" name="TextBox 12">
            <a:extLst>
              <a:ext uri="{FF2B5EF4-FFF2-40B4-BE49-F238E27FC236}">
                <a16:creationId xmlns:a16="http://schemas.microsoft.com/office/drawing/2014/main" id="{364610AE-2B25-0A1C-9BCC-9CE5DC1D9731}"/>
              </a:ext>
            </a:extLst>
          </p:cNvPr>
          <p:cNvSpPr txBox="1"/>
          <p:nvPr/>
        </p:nvSpPr>
        <p:spPr>
          <a:xfrm>
            <a:off x="2303239" y="2941624"/>
            <a:ext cx="13825536" cy="5157630"/>
          </a:xfrm>
          <a:prstGeom prst="rect">
            <a:avLst/>
          </a:prstGeom>
          <a:noFill/>
        </p:spPr>
        <p:txBody>
          <a:bodyPr wrap="square">
            <a:spAutoFit/>
          </a:bodyPr>
          <a:lstStyle/>
          <a:p>
            <a:pPr algn="just">
              <a:lnSpc>
                <a:spcPct val="200000"/>
              </a:lnSpc>
            </a:pPr>
            <a:r>
              <a:rPr lang="en-US" sz="2400" dirty="0" err="1">
                <a:latin typeface="Times New Roman" panose="02020603050405020304" pitchFamily="18" charset="0"/>
                <a:cs typeface="Times New Roman" panose="02020603050405020304" pitchFamily="18" charset="0"/>
              </a:rPr>
              <a:t>AgroLandTrust</a:t>
            </a:r>
            <a:r>
              <a:rPr lang="en-US" sz="2400" dirty="0">
                <a:latin typeface="Times New Roman" panose="02020603050405020304" pitchFamily="18" charset="0"/>
                <a:cs typeface="Times New Roman" panose="02020603050405020304" pitchFamily="18" charset="0"/>
              </a:rPr>
              <a:t> 5.0 presents a secure and transparent framework for land registration by integrating Blockchain, AI-based fraud detection, and IPFS decentralized storage. The system ensures tamper-proof records, secure document storage, and automated detection of fraudulent transactions, improving trust and efficiency in smart agriculture land management. In the future, the system can be enhanced by integrating government land record databases, mobile applications for farmers, advanced deep learning models for better fraud detection, biometric authentication, and GIS-based land mapping to further improve scalability, security, and usability.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084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B2357-4C25-C4F8-13FE-757A0DEBEA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C289560-F57E-840C-E128-B67F1884AB35}"/>
              </a:ext>
            </a:extLst>
          </p:cNvPr>
          <p:cNvGrpSpPr/>
          <p:nvPr/>
        </p:nvGrpSpPr>
        <p:grpSpPr>
          <a:xfrm>
            <a:off x="1295127" y="2169255"/>
            <a:ext cx="15697745" cy="7222718"/>
            <a:chOff x="0" y="0"/>
            <a:chExt cx="4274726" cy="1718953"/>
          </a:xfrm>
        </p:grpSpPr>
        <p:sp>
          <p:nvSpPr>
            <p:cNvPr id="3" name="Freeform 3">
              <a:extLst>
                <a:ext uri="{FF2B5EF4-FFF2-40B4-BE49-F238E27FC236}">
                  <a16:creationId xmlns:a16="http://schemas.microsoft.com/office/drawing/2014/main" id="{A90BE739-7446-6840-8377-503145C34CE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25F74E38-6269-3869-2AA0-BBC12C9C0DD4}"/>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C6C4738-5F88-A123-3DDF-F509E10D3279}"/>
              </a:ext>
            </a:extLst>
          </p:cNvPr>
          <p:cNvGrpSpPr/>
          <p:nvPr/>
        </p:nvGrpSpPr>
        <p:grpSpPr>
          <a:xfrm>
            <a:off x="5471592" y="895027"/>
            <a:ext cx="7560839" cy="1312567"/>
            <a:chOff x="0" y="0"/>
            <a:chExt cx="2109623" cy="400405"/>
          </a:xfrm>
        </p:grpSpPr>
        <p:sp>
          <p:nvSpPr>
            <p:cNvPr id="6" name="Freeform 6">
              <a:extLst>
                <a:ext uri="{FF2B5EF4-FFF2-40B4-BE49-F238E27FC236}">
                  <a16:creationId xmlns:a16="http://schemas.microsoft.com/office/drawing/2014/main" id="{D04C92B9-AD59-46EF-F7C6-D0EBC664F29D}"/>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EAAA3048-CCAD-8CC9-8F49-10F94717C73A}"/>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AD6ABC0E-61C0-CF18-6195-F3E1FDBE69EF}"/>
              </a:ext>
            </a:extLst>
          </p:cNvPr>
          <p:cNvSpPr txBox="1"/>
          <p:nvPr/>
        </p:nvSpPr>
        <p:spPr>
          <a:xfrm>
            <a:off x="4251573" y="1243533"/>
            <a:ext cx="9784854" cy="615553"/>
          </a:xfrm>
          <a:prstGeom prst="rect">
            <a:avLst/>
          </a:prstGeom>
        </p:spPr>
        <p:txBody>
          <a:bodyPr wrap="square"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REFERENCES</a:t>
            </a:r>
          </a:p>
        </p:txBody>
      </p:sp>
      <p:pic>
        <p:nvPicPr>
          <p:cNvPr id="8" name="Picture 7">
            <a:extLst>
              <a:ext uri="{FF2B5EF4-FFF2-40B4-BE49-F238E27FC236}">
                <a16:creationId xmlns:a16="http://schemas.microsoft.com/office/drawing/2014/main" id="{B1334E71-0B42-3DF3-5979-00D7DB89E959}"/>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10" name="Picture 9">
            <a:extLst>
              <a:ext uri="{FF2B5EF4-FFF2-40B4-BE49-F238E27FC236}">
                <a16:creationId xmlns:a16="http://schemas.microsoft.com/office/drawing/2014/main" id="{7D82D80B-47D4-3DA3-3C4C-A793139B305E}"/>
              </a:ext>
            </a:extLst>
          </p:cNvPr>
          <p:cNvPicPr>
            <a:picLocks noChangeAspect="1"/>
          </p:cNvPicPr>
          <p:nvPr/>
        </p:nvPicPr>
        <p:blipFill>
          <a:blip r:embed="rId3"/>
          <a:stretch>
            <a:fillRect/>
          </a:stretch>
        </p:blipFill>
        <p:spPr>
          <a:xfrm>
            <a:off x="15204797" y="312945"/>
            <a:ext cx="2078916" cy="1731414"/>
          </a:xfrm>
          <a:prstGeom prst="rect">
            <a:avLst/>
          </a:prstGeom>
        </p:spPr>
      </p:pic>
      <p:sp>
        <p:nvSpPr>
          <p:cNvPr id="13" name="TextBox 12">
            <a:extLst>
              <a:ext uri="{FF2B5EF4-FFF2-40B4-BE49-F238E27FC236}">
                <a16:creationId xmlns:a16="http://schemas.microsoft.com/office/drawing/2014/main" id="{AB4AAEBC-767A-C3AB-078F-5282ACDB9699}"/>
              </a:ext>
            </a:extLst>
          </p:cNvPr>
          <p:cNvSpPr txBox="1"/>
          <p:nvPr/>
        </p:nvSpPr>
        <p:spPr>
          <a:xfrm>
            <a:off x="1943199" y="2851282"/>
            <a:ext cx="14617624" cy="5565947"/>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[1] R. Kumar, S. Patel and A. Reddy, “Blockchain-AI Framework for Tamper-Proof Land Registration and Fraud Detection in Smart Agriculture,” </a:t>
            </a:r>
            <a:r>
              <a:rPr lang="en-IN" sz="2400" i="1" dirty="0">
                <a:latin typeface="Times New Roman" panose="02020603050405020304" pitchFamily="18" charset="0"/>
                <a:cs typeface="Times New Roman" panose="02020603050405020304" pitchFamily="18" charset="0"/>
              </a:rPr>
              <a:t>International Journal of Information Management Data Insights</a:t>
            </a:r>
            <a:r>
              <a:rPr lang="en-IN" sz="2400" dirty="0">
                <a:latin typeface="Times New Roman" panose="02020603050405020304" pitchFamily="18" charset="0"/>
                <a:cs typeface="Times New Roman" panose="02020603050405020304" pitchFamily="18" charset="0"/>
              </a:rPr>
              <a:t>, vol. 5, no. 1, p. 100210, 2025,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10.1016/j.jjimei.2025.100210.</a:t>
            </a:r>
          </a:p>
          <a:p>
            <a:pPr>
              <a:lnSpc>
                <a:spcPct val="150000"/>
              </a:lnSpc>
            </a:pP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[2] F. </a:t>
            </a:r>
            <a:r>
              <a:rPr lang="en-IN" sz="2400" dirty="0" err="1">
                <a:latin typeface="Times New Roman" panose="02020603050405020304" pitchFamily="18" charset="0"/>
                <a:cs typeface="Times New Roman" panose="02020603050405020304" pitchFamily="18" charset="0"/>
              </a:rPr>
              <a:t>Naguji</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et al.</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AGROLand</a:t>
            </a:r>
            <a:r>
              <a:rPr lang="en-IN" sz="2400" dirty="0">
                <a:latin typeface="Times New Roman" panose="02020603050405020304" pitchFamily="18" charset="0"/>
                <a:cs typeface="Times New Roman" panose="02020603050405020304" pitchFamily="18" charset="0"/>
              </a:rPr>
              <a:t>: A Secure Land Registration Scheme for Blockchain and AI-Enabled Agriculture Industry 5.0,”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vol. 12, pp. 120994–121009, 2024,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10.1109/ACCESS.2024.3451627.</a:t>
            </a:r>
          </a:p>
          <a:p>
            <a:pPr>
              <a:lnSpc>
                <a:spcPct val="150000"/>
              </a:lnSpc>
            </a:pP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[3] V. Sharma, P. Singh and K. Verma, “Secure Land Transaction System Using Blockchain, IPFS and Machine Learning-Based Fraud Detection,”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vol. 11, pp. 145678–145690, 2023,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10.1109/ACCESS.2023.3298765.</a:t>
            </a:r>
          </a:p>
        </p:txBody>
      </p:sp>
    </p:spTree>
    <p:extLst>
      <p:ext uri="{BB962C8B-B14F-4D97-AF65-F5344CB8AC3E}">
        <p14:creationId xmlns:p14="http://schemas.microsoft.com/office/powerpoint/2010/main" val="3992217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D36FB-A1C2-F7D5-67D0-15B8B0FC71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F1BB75-DCAE-8788-F698-9C9D9C450412}"/>
              </a:ext>
            </a:extLst>
          </p:cNvPr>
          <p:cNvGrpSpPr/>
          <p:nvPr/>
        </p:nvGrpSpPr>
        <p:grpSpPr>
          <a:xfrm>
            <a:off x="1367135" y="2207594"/>
            <a:ext cx="15697745" cy="7364671"/>
            <a:chOff x="0" y="0"/>
            <a:chExt cx="4274726" cy="1718953"/>
          </a:xfrm>
        </p:grpSpPr>
        <p:sp>
          <p:nvSpPr>
            <p:cNvPr id="3" name="Freeform 3">
              <a:extLst>
                <a:ext uri="{FF2B5EF4-FFF2-40B4-BE49-F238E27FC236}">
                  <a16:creationId xmlns:a16="http://schemas.microsoft.com/office/drawing/2014/main" id="{34D02164-2BE5-608C-920E-5CF83187542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IN"/>
            </a:p>
          </p:txBody>
        </p:sp>
        <p:sp>
          <p:nvSpPr>
            <p:cNvPr id="4" name="TextBox 4">
              <a:extLst>
                <a:ext uri="{FF2B5EF4-FFF2-40B4-BE49-F238E27FC236}">
                  <a16:creationId xmlns:a16="http://schemas.microsoft.com/office/drawing/2014/main" id="{8DC600F4-A92E-14E0-0854-EB82C23DCB2A}"/>
                </a:ext>
              </a:extLst>
            </p:cNvPr>
            <p:cNvSpPr txBox="1"/>
            <p:nvPr/>
          </p:nvSpPr>
          <p:spPr>
            <a:xfrm>
              <a:off x="0" y="-76200"/>
              <a:ext cx="4274726" cy="179515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A4BA29F-79CE-E251-F5E3-B03D3017F9F0}"/>
              </a:ext>
            </a:extLst>
          </p:cNvPr>
          <p:cNvGrpSpPr/>
          <p:nvPr/>
        </p:nvGrpSpPr>
        <p:grpSpPr>
          <a:xfrm>
            <a:off x="5471592" y="895027"/>
            <a:ext cx="7560839" cy="1312567"/>
            <a:chOff x="0" y="0"/>
            <a:chExt cx="2109623" cy="400405"/>
          </a:xfrm>
        </p:grpSpPr>
        <p:sp>
          <p:nvSpPr>
            <p:cNvPr id="6" name="Freeform 6">
              <a:extLst>
                <a:ext uri="{FF2B5EF4-FFF2-40B4-BE49-F238E27FC236}">
                  <a16:creationId xmlns:a16="http://schemas.microsoft.com/office/drawing/2014/main" id="{85454A78-1878-5FA1-868A-6145CB523914}"/>
                </a:ext>
              </a:extLst>
            </p:cNvPr>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solidFill>
              <a:srgbClr val="DDDEDE"/>
            </a:solid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8812D5FF-AD19-4AF4-EDA7-83E475249DA4}"/>
                </a:ext>
              </a:extLst>
            </p:cNvPr>
            <p:cNvSpPr txBox="1"/>
            <p:nvPr/>
          </p:nvSpPr>
          <p:spPr>
            <a:xfrm>
              <a:off x="0" y="-38100"/>
              <a:ext cx="2109623" cy="43850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8D696506-C190-1D5D-82F2-C083086550EE}"/>
              </a:ext>
            </a:extLst>
          </p:cNvPr>
          <p:cNvSpPr txBox="1"/>
          <p:nvPr/>
        </p:nvSpPr>
        <p:spPr>
          <a:xfrm>
            <a:off x="4251573" y="1243533"/>
            <a:ext cx="9784854" cy="615553"/>
          </a:xfrm>
          <a:prstGeom prst="rect">
            <a:avLst/>
          </a:prstGeom>
        </p:spPr>
        <p:txBody>
          <a:bodyPr wrap="square" lIns="0" tIns="0" rIns="0" bIns="0" rtlCol="0" anchor="t">
            <a:spAutoFit/>
          </a:bodyPr>
          <a:lstStyle/>
          <a:p>
            <a:pPr algn="ctr"/>
            <a:r>
              <a:rPr lang="en-US" sz="4000" b="1" dirty="0">
                <a:solidFill>
                  <a:srgbClr val="000000"/>
                </a:solidFill>
                <a:latin typeface="Times New Roman" panose="02020603050405020304" pitchFamily="18" charset="0"/>
                <a:cs typeface="Times New Roman" panose="02020603050405020304" pitchFamily="18" charset="0"/>
              </a:rPr>
              <a:t>GITHUB LINK</a:t>
            </a:r>
          </a:p>
        </p:txBody>
      </p:sp>
      <p:pic>
        <p:nvPicPr>
          <p:cNvPr id="8" name="Picture 7">
            <a:extLst>
              <a:ext uri="{FF2B5EF4-FFF2-40B4-BE49-F238E27FC236}">
                <a16:creationId xmlns:a16="http://schemas.microsoft.com/office/drawing/2014/main" id="{4CF81900-66EF-0B99-4D93-431D0DDCF13C}"/>
              </a:ext>
            </a:extLst>
          </p:cNvPr>
          <p:cNvPicPr>
            <a:picLocks noChangeAspect="1"/>
          </p:cNvPicPr>
          <p:nvPr/>
        </p:nvPicPr>
        <p:blipFill>
          <a:blip r:embed="rId2"/>
          <a:stretch>
            <a:fillRect/>
          </a:stretch>
        </p:blipFill>
        <p:spPr>
          <a:xfrm>
            <a:off x="-669184" y="1042154"/>
            <a:ext cx="3395766" cy="1048603"/>
          </a:xfrm>
          <a:prstGeom prst="rect">
            <a:avLst/>
          </a:prstGeom>
        </p:spPr>
      </p:pic>
      <p:pic>
        <p:nvPicPr>
          <p:cNvPr id="10" name="Picture 9">
            <a:extLst>
              <a:ext uri="{FF2B5EF4-FFF2-40B4-BE49-F238E27FC236}">
                <a16:creationId xmlns:a16="http://schemas.microsoft.com/office/drawing/2014/main" id="{A29A380E-D8BB-9EF4-8421-262632F2E193}"/>
              </a:ext>
            </a:extLst>
          </p:cNvPr>
          <p:cNvPicPr>
            <a:picLocks noChangeAspect="1"/>
          </p:cNvPicPr>
          <p:nvPr/>
        </p:nvPicPr>
        <p:blipFill>
          <a:blip r:embed="rId3"/>
          <a:stretch>
            <a:fillRect/>
          </a:stretch>
        </p:blipFill>
        <p:spPr>
          <a:xfrm>
            <a:off x="15204797" y="312945"/>
            <a:ext cx="2078916" cy="1731414"/>
          </a:xfrm>
          <a:prstGeom prst="rect">
            <a:avLst/>
          </a:prstGeom>
        </p:spPr>
      </p:pic>
      <p:sp>
        <p:nvSpPr>
          <p:cNvPr id="13" name="TextBox 12">
            <a:extLst>
              <a:ext uri="{FF2B5EF4-FFF2-40B4-BE49-F238E27FC236}">
                <a16:creationId xmlns:a16="http://schemas.microsoft.com/office/drawing/2014/main" id="{2AA47810-0441-C02A-2498-253F6662D2B7}"/>
              </a:ext>
            </a:extLst>
          </p:cNvPr>
          <p:cNvSpPr txBox="1"/>
          <p:nvPr/>
        </p:nvSpPr>
        <p:spPr>
          <a:xfrm>
            <a:off x="2231232" y="2718030"/>
            <a:ext cx="14329593" cy="1133965"/>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https://github.com/Vaishnavi-Parsa/A-Blockchain-AI-framework-for-tamperproof-land-registration-and-fraud-detection-in-smart-agriculture</a:t>
            </a:r>
          </a:p>
        </p:txBody>
      </p:sp>
    </p:spTree>
    <p:extLst>
      <p:ext uri="{BB962C8B-B14F-4D97-AF65-F5344CB8AC3E}">
        <p14:creationId xmlns:p14="http://schemas.microsoft.com/office/powerpoint/2010/main" val="4234183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024" y="0"/>
            <a:ext cx="9250362"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a:off x="9110662"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4" name="Group 4"/>
          <p:cNvGrpSpPr/>
          <p:nvPr/>
        </p:nvGrpSpPr>
        <p:grpSpPr>
          <a:xfrm>
            <a:off x="0" y="4207396"/>
            <a:ext cx="19974273" cy="1556021"/>
            <a:chOff x="0" y="0"/>
            <a:chExt cx="5260714" cy="374250"/>
          </a:xfrm>
        </p:grpSpPr>
        <p:sp>
          <p:nvSpPr>
            <p:cNvPr id="5" name="Freeform 5"/>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txBody>
            <a:bodyPr/>
            <a:lstStyle/>
            <a:p>
              <a:endParaRPr lang="en-IN"/>
            </a:p>
          </p:txBody>
        </p:sp>
        <p:sp>
          <p:nvSpPr>
            <p:cNvPr id="6" name="TextBox 6"/>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269473" y="3993564"/>
            <a:ext cx="11749054" cy="1983683"/>
          </a:xfrm>
          <a:prstGeom prst="rect">
            <a:avLst/>
          </a:prstGeom>
        </p:spPr>
        <p:txBody>
          <a:bodyPr lIns="0" tIns="0" rIns="0" bIns="0" rtlCol="0" anchor="t">
            <a:spAutoFit/>
          </a:bodyPr>
          <a:lstStyle/>
          <a:p>
            <a:pPr algn="ctr">
              <a:lnSpc>
                <a:spcPts val="14620"/>
              </a:lnSpc>
            </a:pPr>
            <a:r>
              <a:rPr lang="en-US" sz="10443" dirty="0">
                <a:solidFill>
                  <a:srgbClr val="000000"/>
                </a:solidFill>
                <a:latin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1046</TotalTime>
  <Words>1707</Words>
  <Application>Microsoft Office PowerPoint</Application>
  <PresentationFormat>Custom</PresentationFormat>
  <Paragraphs>161</Paragraphs>
  <Slides>32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Times New Roman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Major Project_15 finally</dc:title>
  <dc:creator>hansh</dc:creator>
  <cp:lastModifiedBy>Harshith Raj Parsa</cp:lastModifiedBy>
  <cp:revision>12</cp:revision>
  <dcterms:created xsi:type="dcterms:W3CDTF">2006-08-16T00:00:00Z</dcterms:created>
  <dcterms:modified xsi:type="dcterms:W3CDTF">2026-03-17T12:31:09Z</dcterms:modified>
  <dc:identifier>DAFbyJL02hM</dc:identifier>
</cp:coreProperties>
</file>